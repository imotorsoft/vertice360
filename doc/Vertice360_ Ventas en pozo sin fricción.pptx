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59.jpeg" ContentType="image/jpeg"/>
  <Override PartName="/ppt/media/image6.png" ContentType="image/png"/>
  <Override PartName="/ppt/media/image83.png" ContentType="image/png"/>
  <Override PartName="/ppt/media/image57.jpeg" ContentType="image/jpeg"/>
  <Override PartName="/ppt/media/image63.png" ContentType="image/png"/>
  <Override PartName="/ppt/media/image54.png" ContentType="image/png"/>
  <Override PartName="/ppt/media/image76.jpeg" ContentType="image/jpeg"/>
  <Override PartName="/ppt/media/image58.jpeg" ContentType="image/jpeg"/>
  <Override PartName="/ppt/media/image53.png" ContentType="image/png"/>
  <Override PartName="/ppt/media/image56.jpeg" ContentType="image/jpeg"/>
  <Override PartName="/ppt/media/image52.jpeg" ContentType="image/jpeg"/>
  <Override PartName="/ppt/media/image13.png" ContentType="image/png"/>
  <Override PartName="/ppt/media/image51.png" ContentType="image/png"/>
  <Override PartName="/ppt/media/image49.jpeg" ContentType="image/jpeg"/>
  <Override PartName="/ppt/media/image47.jpeg" ContentType="image/jpeg"/>
  <Override PartName="/ppt/media/image68.png" ContentType="image/png"/>
  <Override PartName="/ppt/media/image46.jpeg" ContentType="image/jpeg"/>
  <Override PartName="/ppt/media/image55.png" ContentType="image/png"/>
  <Override PartName="/ppt/media/image45.jpeg" ContentType="image/jpeg"/>
  <Override PartName="/ppt/media/image48.png" ContentType="image/png"/>
  <Override PartName="/ppt/media/image42.png" ContentType="image/png"/>
  <Override PartName="/ppt/media/image41.png" ContentType="image/png"/>
  <Override PartName="/ppt/media/image44.png" ContentType="image/png"/>
  <Override PartName="/ppt/media/image75.jpeg" ContentType="image/jpeg"/>
  <Override PartName="/ppt/media/image27.jpeg" ContentType="image/jpeg"/>
  <Override PartName="/ppt/media/image50.jpeg" ContentType="image/jpeg"/>
  <Override PartName="/ppt/media/image16.jpeg" ContentType="image/jpeg"/>
  <Override PartName="/ppt/media/image18.jpeg" ContentType="image/jpeg"/>
  <Override PartName="/ppt/media/image28.jpeg" ContentType="image/jpeg"/>
  <Override PartName="/ppt/media/image62.png" ContentType="image/png"/>
  <Override PartName="/ppt/media/image21.jpeg" ContentType="image/jpeg"/>
  <Override PartName="/ppt/media/image71.png" ContentType="image/png"/>
  <Override PartName="/ppt/media/image29.png" ContentType="image/png"/>
  <Override PartName="/ppt/media/image22.png" ContentType="image/png"/>
  <Override PartName="/ppt/media/image43.jpeg" ContentType="image/jpeg"/>
  <Override PartName="/ppt/media/image24.png" ContentType="image/png"/>
  <Override PartName="/ppt/media/image73.jpeg" ContentType="image/jpeg"/>
  <Override PartName="/ppt/media/image23.png" ContentType="image/png"/>
  <Override PartName="/ppt/media/image60.png" ContentType="image/png"/>
  <Override PartName="/ppt/media/image77.png" ContentType="image/png"/>
  <Override PartName="/ppt/media/image79.png" ContentType="image/png"/>
  <Override PartName="/ppt/media/image32.jpeg" ContentType="image/jpeg"/>
  <Override PartName="/ppt/media/image72.png" ContentType="image/png"/>
  <Override PartName="/ppt/media/image74.png" ContentType="image/png"/>
  <Override PartName="/ppt/media/image61.jpeg" ContentType="image/jpeg"/>
  <Override PartName="/ppt/media/image78.jpeg" ContentType="image/jpeg"/>
  <Override PartName="/ppt/media/image14.png" ContentType="image/png"/>
  <Override PartName="/ppt/media/image67.jpeg" ContentType="image/jpeg"/>
  <Override PartName="/ppt/media/image70.png" ContentType="image/png"/>
  <Override PartName="/ppt/media/image69.jpeg" ContentType="image/jpeg"/>
  <Override PartName="/ppt/media/image66.jpeg" ContentType="image/jpeg"/>
  <Override PartName="/ppt/media/image11.png" ContentType="image/png"/>
  <Override PartName="/ppt/media/image9.jpeg" ContentType="image/jpeg"/>
  <Override PartName="/ppt/media/image65.jpeg" ContentType="image/jpeg"/>
  <Override PartName="/ppt/media/image8.png" ContentType="image/png"/>
  <Override PartName="/ppt/media/image38.png" ContentType="image/png"/>
  <Override PartName="/ppt/media/image64.png" ContentType="image/png"/>
  <Override PartName="/ppt/media/image25.jpeg" ContentType="image/jpeg"/>
  <Override PartName="/ppt/media/image36.jpeg" ContentType="image/jpeg"/>
  <Override PartName="/ppt/media/image10.png" ContentType="image/png"/>
  <Override PartName="/ppt/media/image1.jpeg" ContentType="image/jpeg"/>
  <Override PartName="/ppt/media/image35.jpeg" ContentType="image/jpeg"/>
  <Override PartName="/ppt/media/image26.png" ContentType="image/png"/>
  <Override PartName="/ppt/media/image15.png" ContentType="image/png"/>
  <Override PartName="/ppt/media/image80.png" ContentType="image/png"/>
  <Override PartName="/ppt/media/image3.png" ContentType="image/png"/>
  <Override PartName="/ppt/media/image33.png" ContentType="image/png"/>
  <Override PartName="/ppt/media/image81.png" ContentType="image/png"/>
  <Override PartName="/ppt/media/image4.png" ContentType="image/png"/>
  <Override PartName="/ppt/media/image12.jpeg" ContentType="image/jpeg"/>
  <Override PartName="/ppt/media/image19.jpeg" ContentType="image/jpeg"/>
  <Override PartName="/ppt/media/image7.png" ContentType="image/png"/>
  <Override PartName="/ppt/media/image34.jpeg" ContentType="image/jpeg"/>
  <Override PartName="/ppt/media/image5.png" ContentType="image/png"/>
  <Override PartName="/ppt/media/image17.png" ContentType="image/png"/>
  <Override PartName="/ppt/media/image39.jpeg" ContentType="image/jpeg"/>
  <Override PartName="/ppt/media/image82.png" ContentType="image/png"/>
  <Override PartName="/ppt/media/image30.png" ContentType="image/png"/>
  <Override PartName="/ppt/media/image20.png" ContentType="image/png"/>
  <Override PartName="/ppt/media/image37.jpeg" ContentType="image/jpeg"/>
  <Override PartName="/ppt/media/image2.jpeg" ContentType="image/jpeg"/>
  <Override PartName="/ppt/media/image31.png" ContentType="image/png"/>
  <Override PartName="/ppt/media/image40.jpeg" ContentType="image/jpe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8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12192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Click </a:t>
            </a: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to </a:t>
            </a: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move </a:t>
            </a: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the </a:t>
            </a: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slide</a:t>
            </a: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2000" spc="-1" strike="noStrike">
                <a:latin typeface="Arial"/>
              </a:rPr>
              <a:t>C</a:t>
            </a:r>
            <a:r>
              <a:rPr b="0" lang="en-US" sz="2000" spc="-1" strike="noStrike">
                <a:latin typeface="Arial"/>
              </a:rPr>
              <a:t>l</a:t>
            </a:r>
            <a:r>
              <a:rPr b="0" lang="en-US" sz="2000" spc="-1" strike="noStrike">
                <a:latin typeface="Arial"/>
              </a:rPr>
              <a:t>i</a:t>
            </a:r>
            <a:r>
              <a:rPr b="0" lang="en-US" sz="2000" spc="-1" strike="noStrike">
                <a:latin typeface="Arial"/>
              </a:rPr>
              <a:t>c</a:t>
            </a:r>
            <a:r>
              <a:rPr b="0" lang="en-US" sz="2000" spc="-1" strike="noStrike">
                <a:latin typeface="Arial"/>
              </a:rPr>
              <a:t>k</a:t>
            </a:r>
            <a:r>
              <a:rPr b="0" lang="en-US" sz="2000" spc="-1" strike="noStrike">
                <a:latin typeface="Arial"/>
              </a:rPr>
              <a:t> </a:t>
            </a:r>
            <a:r>
              <a:rPr b="0" lang="en-US" sz="2000" spc="-1" strike="noStrike">
                <a:latin typeface="Arial"/>
              </a:rPr>
              <a:t>t</a:t>
            </a:r>
            <a:r>
              <a:rPr b="0" lang="en-US" sz="2000" spc="-1" strike="noStrike">
                <a:latin typeface="Arial"/>
              </a:rPr>
              <a:t>o</a:t>
            </a:r>
            <a:r>
              <a:rPr b="0" lang="en-US" sz="2000" spc="-1" strike="noStrike">
                <a:latin typeface="Arial"/>
              </a:rPr>
              <a:t> </a:t>
            </a:r>
            <a:r>
              <a:rPr b="0" lang="en-US" sz="2000" spc="-1" strike="noStrike">
                <a:latin typeface="Arial"/>
              </a:rPr>
              <a:t>e</a:t>
            </a:r>
            <a:r>
              <a:rPr b="0" lang="en-US" sz="2000" spc="-1" strike="noStrike">
                <a:latin typeface="Arial"/>
              </a:rPr>
              <a:t>d</a:t>
            </a:r>
            <a:r>
              <a:rPr b="0" lang="en-US" sz="2000" spc="-1" strike="noStrike">
                <a:latin typeface="Arial"/>
              </a:rPr>
              <a:t>i</a:t>
            </a:r>
            <a:r>
              <a:rPr b="0" lang="en-US" sz="2000" spc="-1" strike="noStrike">
                <a:latin typeface="Arial"/>
              </a:rPr>
              <a:t>t</a:t>
            </a:r>
            <a:r>
              <a:rPr b="0" lang="en-US" sz="2000" spc="-1" strike="noStrike">
                <a:latin typeface="Arial"/>
              </a:rPr>
              <a:t> </a:t>
            </a:r>
            <a:r>
              <a:rPr b="0" lang="en-US" sz="2000" spc="-1" strike="noStrike">
                <a:latin typeface="Arial"/>
              </a:rPr>
              <a:t>t</a:t>
            </a:r>
            <a:r>
              <a:rPr b="0" lang="en-US" sz="2000" spc="-1" strike="noStrike">
                <a:latin typeface="Arial"/>
              </a:rPr>
              <a:t>h</a:t>
            </a:r>
            <a:r>
              <a:rPr b="0" lang="en-US" sz="2000" spc="-1" strike="noStrike">
                <a:latin typeface="Arial"/>
              </a:rPr>
              <a:t>e</a:t>
            </a:r>
            <a:r>
              <a:rPr b="0" lang="en-US" sz="2000" spc="-1" strike="noStrike">
                <a:latin typeface="Arial"/>
              </a:rPr>
              <a:t> </a:t>
            </a:r>
            <a:r>
              <a:rPr b="0" lang="en-US" sz="2000" spc="-1" strike="noStrike">
                <a:latin typeface="Arial"/>
              </a:rPr>
              <a:t>n</a:t>
            </a:r>
            <a:r>
              <a:rPr b="0" lang="en-US" sz="2000" spc="-1" strike="noStrike">
                <a:latin typeface="Arial"/>
              </a:rPr>
              <a:t>o</a:t>
            </a:r>
            <a:r>
              <a:rPr b="0" lang="en-US" sz="2000" spc="-1" strike="noStrike">
                <a:latin typeface="Arial"/>
              </a:rPr>
              <a:t>t</a:t>
            </a:r>
            <a:r>
              <a:rPr b="0" lang="en-US" sz="2000" spc="-1" strike="noStrike">
                <a:latin typeface="Arial"/>
              </a:rPr>
              <a:t>e</a:t>
            </a:r>
            <a:r>
              <a:rPr b="0" lang="en-US" sz="2000" spc="-1" strike="noStrike">
                <a:latin typeface="Arial"/>
              </a:rPr>
              <a:t>s</a:t>
            </a:r>
            <a:r>
              <a:rPr b="0" lang="en-US" sz="2000" spc="-1" strike="noStrike">
                <a:latin typeface="Arial"/>
              </a:rPr>
              <a:t> </a:t>
            </a:r>
            <a:r>
              <a:rPr b="0" lang="en-US" sz="2000" spc="-1" strike="noStrike">
                <a:latin typeface="Arial"/>
              </a:rPr>
              <a:t>f</a:t>
            </a:r>
            <a:r>
              <a:rPr b="0" lang="en-US" sz="2000" spc="-1" strike="noStrike">
                <a:latin typeface="Arial"/>
              </a:rPr>
              <a:t>o</a:t>
            </a:r>
            <a:r>
              <a:rPr b="0" lang="en-US" sz="2000" spc="-1" strike="noStrike">
                <a:latin typeface="Arial"/>
              </a:rPr>
              <a:t>r</a:t>
            </a:r>
            <a:r>
              <a:rPr b="0" lang="en-US" sz="2000" spc="-1" strike="noStrike">
                <a:latin typeface="Arial"/>
              </a:rPr>
              <a:t>m</a:t>
            </a:r>
            <a:r>
              <a:rPr b="0" lang="en-US" sz="2000" spc="-1" strike="noStrike">
                <a:latin typeface="Arial"/>
              </a:rPr>
              <a:t>a</a:t>
            </a:r>
            <a:r>
              <a:rPr b="0" lang="en-US" sz="2000" spc="-1" strike="noStrike">
                <a:latin typeface="Arial"/>
              </a:rPr>
              <a:t>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pPr algn="r"/>
            <a:fld id="{404B52C2-AAF1-468E-8691-7D2F4D0BBD39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97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96C933B4-B443-4558-8DF5-3F2EB32DFFC6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00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850C5232-3463-4A86-A226-0619473A017B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03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740DB324-E0D3-480F-86E9-F7BA0229ED17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06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92A7EE11-8D2A-44F3-A326-C62D42A65BAA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09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AC37FAC1-DC3F-416B-96E7-75880863A420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12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AB7D47BA-0CE0-4641-A2E8-083660B9B147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15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BDE675CB-6683-47B7-8D36-DE81F7ECAE3D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18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F9787630-3A1E-4DAF-907F-061E5E71EBB4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21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11D4032E-34A2-41FF-B1D0-8F1622B32762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24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1DEDD2A4-122F-44CE-8D30-D749F94CB1BC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27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FD00B50A-4A28-4399-82D3-49848F58CFC7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30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D387F3D8-1D7F-4AA0-BC34-FCA2ACFF2AEF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33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B95F711A-689A-41DB-AE63-395D3F75F5E2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36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E8C5504F-EC4C-471E-9821-B87478417146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39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028490C1-BC68-4278-8AA9-852C6490C02C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42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20220532-E18F-488F-80F6-884DDB054900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45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05A89D01-35A0-4ED5-BC22-EE1A6E8E9272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248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2F92435F-6B08-4E65-BE84-8FADA7743176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image" Target="../media/image17.png"/><Relationship Id="rId3" Type="http://schemas.openxmlformats.org/officeDocument/2006/relationships/image" Target="../media/image18.jpeg"/><Relationship Id="rId4" Type="http://schemas.openxmlformats.org/officeDocument/2006/relationships/image" Target="../media/image19.jpeg"/><Relationship Id="rId5" Type="http://schemas.openxmlformats.org/officeDocument/2006/relationships/image" Target="../media/image20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5.jpeg"/><Relationship Id="rId2" Type="http://schemas.openxmlformats.org/officeDocument/2006/relationships/image" Target="../media/image26.png"/><Relationship Id="rId3" Type="http://schemas.openxmlformats.org/officeDocument/2006/relationships/image" Target="../media/image27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8.jpeg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2.jpeg"/><Relationship Id="rId2" Type="http://schemas.openxmlformats.org/officeDocument/2006/relationships/image" Target="../media/image33.png"/><Relationship Id="rId3" Type="http://schemas.openxmlformats.org/officeDocument/2006/relationships/image" Target="../media/image34.jpeg"/><Relationship Id="rId4" Type="http://schemas.openxmlformats.org/officeDocument/2006/relationships/image" Target="../media/image35.jpeg"/><Relationship Id="rId5" Type="http://schemas.openxmlformats.org/officeDocument/2006/relationships/image" Target="../media/image36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7.jpeg"/><Relationship Id="rId2" Type="http://schemas.openxmlformats.org/officeDocument/2006/relationships/image" Target="../media/image38.png"/><Relationship Id="rId3" Type="http://schemas.openxmlformats.org/officeDocument/2006/relationships/image" Target="../media/image39.jpeg"/><Relationship Id="rId4" Type="http://schemas.openxmlformats.org/officeDocument/2006/relationships/image" Target="../media/image40.jpe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3.jpeg"/><Relationship Id="rId2" Type="http://schemas.openxmlformats.org/officeDocument/2006/relationships/image" Target="../media/image44.png"/><Relationship Id="rId3" Type="http://schemas.openxmlformats.org/officeDocument/2006/relationships/image" Target="../media/image45.jpeg"/><Relationship Id="rId4" Type="http://schemas.openxmlformats.org/officeDocument/2006/relationships/image" Target="../media/image46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7.jpeg"/><Relationship Id="rId2" Type="http://schemas.openxmlformats.org/officeDocument/2006/relationships/image" Target="../media/image48.png"/><Relationship Id="rId3" Type="http://schemas.openxmlformats.org/officeDocument/2006/relationships/image" Target="../media/image49.jpeg"/><Relationship Id="rId4" Type="http://schemas.openxmlformats.org/officeDocument/2006/relationships/image" Target="../media/image50.jpeg"/><Relationship Id="rId5" Type="http://schemas.openxmlformats.org/officeDocument/2006/relationships/image" Target="../media/image5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52.jpeg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56.jpeg"/><Relationship Id="rId2" Type="http://schemas.openxmlformats.org/officeDocument/2006/relationships/image" Target="../media/image57.jpeg"/><Relationship Id="rId3" Type="http://schemas.openxmlformats.org/officeDocument/2006/relationships/image" Target="../media/image58.jpeg"/><Relationship Id="rId4" Type="http://schemas.openxmlformats.org/officeDocument/2006/relationships/image" Target="../media/image59.jpeg"/><Relationship Id="rId5" Type="http://schemas.openxmlformats.org/officeDocument/2006/relationships/image" Target="../media/image60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61.jpeg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65.jpeg"/><Relationship Id="rId2" Type="http://schemas.openxmlformats.org/officeDocument/2006/relationships/image" Target="../media/image66.jpeg"/><Relationship Id="rId3" Type="http://schemas.openxmlformats.org/officeDocument/2006/relationships/image" Target="../media/image67.jpeg"/><Relationship Id="rId4" Type="http://schemas.openxmlformats.org/officeDocument/2006/relationships/image" Target="../media/image68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69.jpeg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73.jpeg"/><Relationship Id="rId2" Type="http://schemas.openxmlformats.org/officeDocument/2006/relationships/image" Target="../media/image74.png"/><Relationship Id="rId3" Type="http://schemas.openxmlformats.org/officeDocument/2006/relationships/image" Target="../media/image75.jpeg"/><Relationship Id="rId4" Type="http://schemas.openxmlformats.org/officeDocument/2006/relationships/image" Target="../media/image76.jpeg"/><Relationship Id="rId5" Type="http://schemas.openxmlformats.org/officeDocument/2006/relationships/image" Target="../media/image77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78.jpeg"/><Relationship Id="rId2" Type="http://schemas.openxmlformats.org/officeDocument/2006/relationships/image" Target="../media/image79.png"/><Relationship Id="rId3" Type="http://schemas.openxmlformats.org/officeDocument/2006/relationships/image" Target="../media/image80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Relationship Id="rId6" Type="http://schemas.openxmlformats.org/officeDocument/2006/relationships/image" Target="../media/image8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mage 0" descr="https://kimi-img.moonshot.cn/pub/slides/slides_tmpl/image/25-10-09-18:34:28-d3jovd0s8jdo4os5drog.jpg"/>
          <p:cNvPicPr/>
          <p:nvPr/>
        </p:nvPicPr>
        <p:blipFill>
          <a:blip r:embed="rId2"/>
          <a:srcRect l="213" t="0" r="213" b="0"/>
          <a:stretch/>
        </p:blipFill>
        <p:spPr>
          <a:xfrm flipH="1">
            <a:off x="360" y="-20160"/>
            <a:ext cx="12191760" cy="6897600"/>
          </a:xfrm>
          <a:prstGeom prst="rect">
            <a:avLst/>
          </a:prstGeom>
          <a:ln>
            <a:noFill/>
          </a:ln>
        </p:spPr>
      </p:pic>
      <p:pic>
        <p:nvPicPr>
          <p:cNvPr id="45" name="Image 1" descr="https://kimi-img.moonshot.cn/pub/slides/slides_tmpl/image/25-10-09-18:34:27-d3jovcos8jdo4os5drng.png"/>
          <p:cNvPicPr/>
          <p:nvPr/>
        </p:nvPicPr>
        <p:blipFill>
          <a:blip r:embed="rId3"/>
          <a:stretch/>
        </p:blipFill>
        <p:spPr>
          <a:xfrm>
            <a:off x="6171480" y="1152360"/>
            <a:ext cx="5586840" cy="4876560"/>
          </a:xfrm>
          <a:prstGeom prst="rect">
            <a:avLst/>
          </a:prstGeom>
          <a:ln>
            <a:noFill/>
          </a:ln>
        </p:spPr>
      </p:pic>
      <p:pic>
        <p:nvPicPr>
          <p:cNvPr id="46" name="Image 2" descr="https://kimi-img.moonshot.cn/pub/slides/slides_tmpl/image/25-10-09-18:34:26-d3jovcgs8jdo4os5drn0.png"/>
          <p:cNvPicPr/>
          <p:nvPr/>
        </p:nvPicPr>
        <p:blipFill>
          <a:blip r:embed="rId4"/>
          <a:stretch/>
        </p:blipFill>
        <p:spPr>
          <a:xfrm>
            <a:off x="2938320" y="5283360"/>
            <a:ext cx="2488320" cy="527400"/>
          </a:xfrm>
          <a:prstGeom prst="rect">
            <a:avLst/>
          </a:prstGeom>
          <a:ln>
            <a:noFill/>
          </a:ln>
        </p:spPr>
      </p:pic>
      <p:sp>
        <p:nvSpPr>
          <p:cNvPr id="47" name="CustomShape 1"/>
          <p:cNvSpPr/>
          <p:nvPr/>
        </p:nvSpPr>
        <p:spPr>
          <a:xfrm>
            <a:off x="591840" y="1327680"/>
            <a:ext cx="5841720" cy="2743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>
              <a:lnSpc>
                <a:spcPct val="100000"/>
              </a:lnSpc>
            </a:pPr>
            <a:r>
              <a:rPr b="0" lang="en-US" sz="5800" spc="-1" strike="noStrike">
                <a:solidFill>
                  <a:srgbClr val="ffffff"/>
                </a:solidFill>
                <a:latin typeface="MiSans"/>
                <a:ea typeface="MiSans"/>
              </a:rPr>
              <a:t>Vertice360: Ventas en pozo sin fricción</a:t>
            </a:r>
            <a:endParaRPr b="0" lang="en-US" sz="5800" spc="-1" strike="noStrike">
              <a:latin typeface="Arial"/>
            </a:endParaRPr>
          </a:p>
        </p:txBody>
      </p:sp>
      <p:sp>
        <p:nvSpPr>
          <p:cNvPr id="48" name="CustomShape 2"/>
          <p:cNvSpPr/>
          <p:nvPr/>
        </p:nvSpPr>
        <p:spPr>
          <a:xfrm>
            <a:off x="2974320" y="5376600"/>
            <a:ext cx="2488320" cy="36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MiSans"/>
                <a:ea typeface="MiSans"/>
              </a:rPr>
              <a:t>2025/11/20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49" name="Image 3" descr="https://kimi-img.moonshot.cn/pub/slides/slides_tmpl/image/25-10-09-18:34:31-d3jovdos8jdo4os5drq0.png"/>
          <p:cNvPicPr/>
          <p:nvPr/>
        </p:nvPicPr>
        <p:blipFill>
          <a:blip r:embed="rId5"/>
          <a:stretch/>
        </p:blipFill>
        <p:spPr>
          <a:xfrm>
            <a:off x="8919720" y="1799640"/>
            <a:ext cx="2355480" cy="4638960"/>
          </a:xfrm>
          <a:prstGeom prst="rect">
            <a:avLst/>
          </a:prstGeom>
          <a:ln>
            <a:noFill/>
          </a:ln>
        </p:spPr>
      </p:pic>
      <p:pic>
        <p:nvPicPr>
          <p:cNvPr id="50" name="Image 5" descr="https://kimi-img.moonshot.cn/pub/slides/slides_tmpl/image/25-10-09-18:34:29-d3jovd8s8jdo4os5drp0.png"/>
          <p:cNvPicPr/>
          <p:nvPr/>
        </p:nvPicPr>
        <p:blipFill>
          <a:blip r:embed="rId6"/>
          <a:stretch/>
        </p:blipFill>
        <p:spPr>
          <a:xfrm flipH="1">
            <a:off x="6841800" y="2653560"/>
            <a:ext cx="1851840" cy="1279800"/>
          </a:xfrm>
          <a:prstGeom prst="rect">
            <a:avLst/>
          </a:prstGeom>
          <a:ln>
            <a:noFill/>
          </a:ln>
        </p:spPr>
      </p:pic>
      <p:pic>
        <p:nvPicPr>
          <p:cNvPr id="51" name="Image 6" descr="https://kimi-img.moonshot.cn/pub/slides/slides_tmpl/image/25-10-09-18:34:27-d3jovcos8jdo4os5dro0.png"/>
          <p:cNvPicPr/>
          <p:nvPr/>
        </p:nvPicPr>
        <p:blipFill>
          <a:blip r:embed="rId7"/>
          <a:stretch/>
        </p:blipFill>
        <p:spPr>
          <a:xfrm>
            <a:off x="9730800" y="450720"/>
            <a:ext cx="1246320" cy="1095120"/>
          </a:xfrm>
          <a:prstGeom prst="rect">
            <a:avLst/>
          </a:prstGeom>
          <a:ln>
            <a:noFill/>
          </a:ln>
        </p:spPr>
      </p:pic>
      <p:pic>
        <p:nvPicPr>
          <p:cNvPr id="52" name="Image 7" descr="https://kimi-img.moonshot.cn/pub/slides/slides_tmpl/image/25-10-09-18:34:33-d3jove8s8jdo4os5drrg.png"/>
          <p:cNvPicPr/>
          <p:nvPr/>
        </p:nvPicPr>
        <p:blipFill>
          <a:blip r:embed="rId8"/>
          <a:stretch/>
        </p:blipFill>
        <p:spPr>
          <a:xfrm>
            <a:off x="4643640" y="3493080"/>
            <a:ext cx="1789560" cy="1789560"/>
          </a:xfrm>
          <a:prstGeom prst="rect">
            <a:avLst/>
          </a:prstGeom>
          <a:ln>
            <a:noFill/>
          </a:ln>
        </p:spPr>
      </p:pic>
    </p:spTree>
  </p:cSld>
  <p:transition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mage 0" descr="https://kimi-img.moonshot.cn/pub/slides/slides_tmpl/image/25-10-09-18:34:26-d3jovcgs8jdo4os5drn0.png"/>
          <p:cNvPicPr/>
          <p:nvPr/>
        </p:nvPicPr>
        <p:blipFill>
          <a:blip r:embed="rId2"/>
          <a:srcRect l="38333" t="0" r="38333" b="0"/>
          <a:stretch/>
        </p:blipFill>
        <p:spPr>
          <a:xfrm>
            <a:off x="-720" y="3537000"/>
            <a:ext cx="12192120" cy="354600"/>
          </a:xfrm>
          <a:prstGeom prst="rect">
            <a:avLst/>
          </a:prstGeom>
          <a:ln>
            <a:noFill/>
          </a:ln>
        </p:spPr>
      </p:pic>
      <p:sp>
        <p:nvSpPr>
          <p:cNvPr id="54" name="CustomShape 1"/>
          <p:cNvSpPr/>
          <p:nvPr/>
        </p:nvSpPr>
        <p:spPr>
          <a:xfrm>
            <a:off x="574560" y="689760"/>
            <a:ext cx="1751760" cy="823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5" name="CustomShape 2"/>
          <p:cNvSpPr/>
          <p:nvPr/>
        </p:nvSpPr>
        <p:spPr>
          <a:xfrm>
            <a:off x="2143080" y="826200"/>
            <a:ext cx="2360520" cy="511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ffffff"/>
                </a:solidFill>
                <a:latin typeface="MiSans"/>
                <a:ea typeface="MiSans"/>
              </a:rPr>
              <a:t>Contents</a:t>
            </a:r>
            <a:endParaRPr b="0" lang="en-US" sz="3600" spc="-1" strike="noStrike">
              <a:latin typeface="Arial"/>
            </a:endParaRPr>
          </a:p>
        </p:txBody>
      </p:sp>
      <p:pic>
        <p:nvPicPr>
          <p:cNvPr id="56" name="Image 1" descr="https://kimi-img.moonshot.cn/pub/slides/slides_tmpl/image/25-10-09-18:34:29-d3jovd8s8jdo4os5drp0.png"/>
          <p:cNvPicPr/>
          <p:nvPr/>
        </p:nvPicPr>
        <p:blipFill>
          <a:blip r:embed="rId3"/>
          <a:stretch/>
        </p:blipFill>
        <p:spPr>
          <a:xfrm>
            <a:off x="9168840" y="340200"/>
            <a:ext cx="2203560" cy="1522440"/>
          </a:xfrm>
          <a:prstGeom prst="rect">
            <a:avLst/>
          </a:prstGeom>
          <a:ln>
            <a:noFill/>
          </a:ln>
        </p:spPr>
      </p:pic>
      <p:sp>
        <p:nvSpPr>
          <p:cNvPr id="57" name="CustomShape 3"/>
          <p:cNvSpPr/>
          <p:nvPr/>
        </p:nvSpPr>
        <p:spPr>
          <a:xfrm>
            <a:off x="2406240" y="1427040"/>
            <a:ext cx="1041120" cy="1553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00000"/>
              </a:lnSpc>
            </a:pPr>
            <a:r>
              <a:rPr b="0" lang="en-US" sz="4800" spc="-1" strike="noStrike">
                <a:solidFill>
                  <a:srgbClr val="ffeb6d"/>
                </a:solidFill>
                <a:latin typeface="MiSans"/>
                <a:ea typeface="MiSans"/>
              </a:rPr>
              <a:t>01.</a:t>
            </a:r>
            <a:endParaRPr b="0" lang="en-US" sz="4800" spc="-1" strike="noStrike">
              <a:latin typeface="Arial"/>
            </a:endParaRPr>
          </a:p>
        </p:txBody>
      </p:sp>
      <p:sp>
        <p:nvSpPr>
          <p:cNvPr id="58" name="CustomShape 4"/>
          <p:cNvSpPr/>
          <p:nvPr/>
        </p:nvSpPr>
        <p:spPr>
          <a:xfrm>
            <a:off x="1054080" y="2742840"/>
            <a:ext cx="2359800" cy="823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00000"/>
              </a:lnSpc>
            </a:pPr>
            <a:r>
              <a:rPr b="0" lang="en-US" sz="2400" spc="-1" strike="noStrike">
                <a:solidFill>
                  <a:srgbClr val="ffffff"/>
                </a:solidFill>
                <a:latin typeface="MiSans"/>
                <a:ea typeface="MiSans"/>
              </a:rPr>
              <a:t>El problema actual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9" name="CustomShape 5"/>
          <p:cNvSpPr/>
          <p:nvPr/>
        </p:nvSpPr>
        <p:spPr>
          <a:xfrm>
            <a:off x="5934240" y="1427040"/>
            <a:ext cx="1058040" cy="1553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00000"/>
              </a:lnSpc>
            </a:pPr>
            <a:r>
              <a:rPr b="0" lang="en-US" sz="4800" spc="-1" strike="noStrike">
                <a:solidFill>
                  <a:srgbClr val="ffeb6d"/>
                </a:solidFill>
                <a:latin typeface="MiSans"/>
                <a:ea typeface="MiSans"/>
              </a:rPr>
              <a:t>02.</a:t>
            </a:r>
            <a:endParaRPr b="0" lang="en-US" sz="4800" spc="-1" strike="noStrike">
              <a:latin typeface="Arial"/>
            </a:endParaRPr>
          </a:p>
        </p:txBody>
      </p:sp>
      <p:sp>
        <p:nvSpPr>
          <p:cNvPr id="60" name="CustomShape 6"/>
          <p:cNvSpPr/>
          <p:nvPr/>
        </p:nvSpPr>
        <p:spPr>
          <a:xfrm>
            <a:off x="4735440" y="2743200"/>
            <a:ext cx="2359800" cy="823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00000"/>
              </a:lnSpc>
            </a:pPr>
            <a:r>
              <a:rPr b="0" lang="en-US" sz="2400" spc="-1" strike="noStrike">
                <a:solidFill>
                  <a:srgbClr val="ffffff"/>
                </a:solidFill>
                <a:latin typeface="MiSans"/>
                <a:ea typeface="MiSans"/>
              </a:rPr>
              <a:t>Qué es Vertice360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1" name="CustomShape 7"/>
          <p:cNvSpPr/>
          <p:nvPr/>
        </p:nvSpPr>
        <p:spPr>
          <a:xfrm>
            <a:off x="9599400" y="1427040"/>
            <a:ext cx="1059480" cy="1553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00000"/>
              </a:lnSpc>
            </a:pPr>
            <a:r>
              <a:rPr b="0" lang="en-US" sz="4800" spc="-1" strike="noStrike">
                <a:solidFill>
                  <a:srgbClr val="ffeb6d"/>
                </a:solidFill>
                <a:latin typeface="MiSans"/>
                <a:ea typeface="MiSans"/>
              </a:rPr>
              <a:t>03.</a:t>
            </a:r>
            <a:endParaRPr b="0" lang="en-US" sz="4800" spc="-1" strike="noStrike">
              <a:latin typeface="Arial"/>
            </a:endParaRPr>
          </a:p>
        </p:txBody>
      </p:sp>
      <p:sp>
        <p:nvSpPr>
          <p:cNvPr id="62" name="CustomShape 8"/>
          <p:cNvSpPr/>
          <p:nvPr/>
        </p:nvSpPr>
        <p:spPr>
          <a:xfrm>
            <a:off x="8418960" y="2743200"/>
            <a:ext cx="2359800" cy="823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00000"/>
              </a:lnSpc>
            </a:pPr>
            <a:r>
              <a:rPr b="0" lang="en-US" sz="2400" spc="-1" strike="noStrike">
                <a:solidFill>
                  <a:srgbClr val="ffffff"/>
                </a:solidFill>
                <a:latin typeface="MiSans"/>
                <a:ea typeface="MiSans"/>
              </a:rPr>
              <a:t>Soluciones clave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3" name="CustomShape 9"/>
          <p:cNvSpPr/>
          <p:nvPr/>
        </p:nvSpPr>
        <p:spPr>
          <a:xfrm>
            <a:off x="2408040" y="3678840"/>
            <a:ext cx="1038600" cy="1553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00000"/>
              </a:lnSpc>
            </a:pPr>
            <a:r>
              <a:rPr b="0" lang="en-US" sz="4800" spc="-1" strike="noStrike">
                <a:solidFill>
                  <a:srgbClr val="ffeb6d"/>
                </a:solidFill>
                <a:latin typeface="MiSans"/>
                <a:ea typeface="MiSans"/>
              </a:rPr>
              <a:t>04.</a:t>
            </a:r>
            <a:endParaRPr b="0" lang="en-US" sz="4800" spc="-1" strike="noStrike">
              <a:latin typeface="Arial"/>
            </a:endParaRPr>
          </a:p>
        </p:txBody>
      </p:sp>
      <p:sp>
        <p:nvSpPr>
          <p:cNvPr id="64" name="CustomShape 10"/>
          <p:cNvSpPr/>
          <p:nvPr/>
        </p:nvSpPr>
        <p:spPr>
          <a:xfrm>
            <a:off x="1054080" y="5007240"/>
            <a:ext cx="2359800" cy="823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00000"/>
              </a:lnSpc>
            </a:pPr>
            <a:r>
              <a:rPr b="0" lang="en-US" sz="2400" spc="-1" strike="noStrike">
                <a:solidFill>
                  <a:srgbClr val="ffffff"/>
                </a:solidFill>
                <a:latin typeface="MiSans"/>
                <a:ea typeface="MiSans"/>
              </a:rPr>
              <a:t>Día típico con Vertice360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5" name="CustomShape 11"/>
          <p:cNvSpPr/>
          <p:nvPr/>
        </p:nvSpPr>
        <p:spPr>
          <a:xfrm>
            <a:off x="5967000" y="3678840"/>
            <a:ext cx="1024560" cy="1553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00000"/>
              </a:lnSpc>
            </a:pPr>
            <a:r>
              <a:rPr b="0" lang="en-US" sz="4800" spc="-1" strike="noStrike">
                <a:solidFill>
                  <a:srgbClr val="ffeb6d"/>
                </a:solidFill>
                <a:latin typeface="MiSans"/>
                <a:ea typeface="MiSans"/>
              </a:rPr>
              <a:t>05.</a:t>
            </a:r>
            <a:endParaRPr b="0" lang="en-US" sz="4800" spc="-1" strike="noStrike">
              <a:latin typeface="Arial"/>
            </a:endParaRPr>
          </a:p>
        </p:txBody>
      </p:sp>
      <p:sp>
        <p:nvSpPr>
          <p:cNvPr id="66" name="CustomShape 12"/>
          <p:cNvSpPr/>
          <p:nvPr/>
        </p:nvSpPr>
        <p:spPr>
          <a:xfrm>
            <a:off x="4770000" y="5007240"/>
            <a:ext cx="2359800" cy="823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00000"/>
              </a:lnSpc>
            </a:pPr>
            <a:r>
              <a:rPr b="0" lang="en-US" sz="2400" spc="-1" strike="noStrike">
                <a:solidFill>
                  <a:srgbClr val="ffffff"/>
                </a:solidFill>
                <a:latin typeface="MiSans"/>
                <a:ea typeface="MiSans"/>
              </a:rPr>
              <a:t>Beneficios medibles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7" name="CustomShape 13"/>
          <p:cNvSpPr/>
          <p:nvPr/>
        </p:nvSpPr>
        <p:spPr>
          <a:xfrm>
            <a:off x="9632160" y="3678840"/>
            <a:ext cx="1146600" cy="1553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00000"/>
              </a:lnSpc>
            </a:pPr>
            <a:r>
              <a:rPr b="0" lang="en-US" sz="4800" spc="-1" strike="noStrike">
                <a:solidFill>
                  <a:srgbClr val="ffeb6d"/>
                </a:solidFill>
                <a:latin typeface="MiSans"/>
                <a:ea typeface="MiSans"/>
              </a:rPr>
              <a:t>06.</a:t>
            </a:r>
            <a:endParaRPr b="0" lang="en-US" sz="4800" spc="-1" strike="noStrike">
              <a:latin typeface="Arial"/>
            </a:endParaRPr>
          </a:p>
        </p:txBody>
      </p:sp>
      <p:sp>
        <p:nvSpPr>
          <p:cNvPr id="68" name="CustomShape 14"/>
          <p:cNvSpPr/>
          <p:nvPr/>
        </p:nvSpPr>
        <p:spPr>
          <a:xfrm>
            <a:off x="8452440" y="5190120"/>
            <a:ext cx="2359800" cy="457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00000"/>
              </a:lnSpc>
            </a:pPr>
            <a:r>
              <a:rPr b="0" lang="en-US" sz="2400" spc="-1" strike="noStrike">
                <a:solidFill>
                  <a:srgbClr val="ffffff"/>
                </a:solidFill>
                <a:latin typeface="MiSans"/>
                <a:ea typeface="MiSans"/>
              </a:rPr>
              <a:t>Próximo paso</a:t>
            </a:r>
            <a:endParaRPr b="0" lang="en-US" sz="2400" spc="-1" strike="noStrike">
              <a:latin typeface="Arial"/>
            </a:endParaRPr>
          </a:p>
        </p:txBody>
      </p:sp>
    </p:spTree>
  </p:cSld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CustomShape 1"/>
          <p:cNvSpPr/>
          <p:nvPr/>
        </p:nvSpPr>
        <p:spPr>
          <a:xfrm>
            <a:off x="3011040" y="1333080"/>
            <a:ext cx="1541520" cy="2925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9600" spc="-1" strike="noStrike">
                <a:solidFill>
                  <a:srgbClr val="ffffff"/>
                </a:solidFill>
                <a:latin typeface="MiSans"/>
                <a:ea typeface="MiSans"/>
              </a:rPr>
              <a:t>01</a:t>
            </a:r>
            <a:endParaRPr b="0" lang="en-US" sz="9600" spc="-1" strike="noStrike">
              <a:latin typeface="Arial"/>
            </a:endParaRPr>
          </a:p>
        </p:txBody>
      </p:sp>
      <p:sp>
        <p:nvSpPr>
          <p:cNvPr id="70" name="CustomShape 2"/>
          <p:cNvSpPr/>
          <p:nvPr/>
        </p:nvSpPr>
        <p:spPr>
          <a:xfrm>
            <a:off x="1482480" y="3918960"/>
            <a:ext cx="4599000" cy="121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4000" spc="-1" strike="noStrike">
                <a:solidFill>
                  <a:srgbClr val="ffffff"/>
                </a:solidFill>
                <a:latin typeface="MiSans"/>
                <a:ea typeface="MiSans"/>
              </a:rPr>
              <a:t>El problema actual</a:t>
            </a:r>
            <a:endParaRPr b="0" lang="en-US" sz="4000" spc="-1" strike="noStrike">
              <a:latin typeface="Arial"/>
            </a:endParaRPr>
          </a:p>
        </p:txBody>
      </p:sp>
      <p:pic>
        <p:nvPicPr>
          <p:cNvPr id="71" name="Image 0" descr="https://kimi-img.moonshot.cn/pub/slides/slides_tmpl/image/25-10-09-18:34:36-d3jovf0s8jdo4os5dru0.png"/>
          <p:cNvPicPr/>
          <p:nvPr/>
        </p:nvPicPr>
        <p:blipFill>
          <a:blip r:embed="rId2"/>
          <a:stretch/>
        </p:blipFill>
        <p:spPr>
          <a:xfrm>
            <a:off x="6743880" y="1768320"/>
            <a:ext cx="4562280" cy="4204440"/>
          </a:xfrm>
          <a:prstGeom prst="rect">
            <a:avLst/>
          </a:prstGeom>
          <a:ln>
            <a:noFill/>
          </a:ln>
        </p:spPr>
      </p:pic>
      <p:pic>
        <p:nvPicPr>
          <p:cNvPr id="72" name="Image 1" descr="https://kimi-img.moonshot.cn/pub/slides/slides_tmpl/image/25-10-09-18:34:26-d3jovcgs8jdo4os5drn0.png"/>
          <p:cNvPicPr/>
          <p:nvPr/>
        </p:nvPicPr>
        <p:blipFill>
          <a:blip r:embed="rId3"/>
          <a:srcRect l="38333" t="0" r="38333" b="0"/>
          <a:stretch/>
        </p:blipFill>
        <p:spPr>
          <a:xfrm>
            <a:off x="2655000" y="3534480"/>
            <a:ext cx="2382840" cy="195120"/>
          </a:xfrm>
          <a:prstGeom prst="rect">
            <a:avLst/>
          </a:prstGeom>
          <a:ln>
            <a:noFill/>
          </a:ln>
        </p:spPr>
      </p:pic>
      <p:pic>
        <p:nvPicPr>
          <p:cNvPr id="73" name="Image 2" descr="https://kimi-img.moonshot.cn/pub/slides/slides_tmpl/image/25-10-09-18:34:33-d3jove8s8jdo4os5drrg.png"/>
          <p:cNvPicPr/>
          <p:nvPr/>
        </p:nvPicPr>
        <p:blipFill>
          <a:blip r:embed="rId4"/>
          <a:stretch/>
        </p:blipFill>
        <p:spPr>
          <a:xfrm>
            <a:off x="864720" y="586080"/>
            <a:ext cx="1789560" cy="1789560"/>
          </a:xfrm>
          <a:prstGeom prst="rect">
            <a:avLst/>
          </a:prstGeom>
          <a:ln>
            <a:noFill/>
          </a:ln>
        </p:spPr>
      </p:pic>
    </p:spTree>
  </p:cSld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Image 0" descr="https://kimi-img.moonshot.cn/pub/slides/slides_tmpl/image/25-10-09-18:34:26-d3jovcgs8jdo4os5drn0.png"/>
          <p:cNvPicPr/>
          <p:nvPr/>
        </p:nvPicPr>
        <p:blipFill>
          <a:blip r:embed="rId2"/>
          <a:srcRect l="21422" t="0" r="21422" b="0"/>
          <a:stretch/>
        </p:blipFill>
        <p:spPr>
          <a:xfrm>
            <a:off x="570960" y="4974120"/>
            <a:ext cx="3354840" cy="1606680"/>
          </a:xfrm>
          <a:prstGeom prst="rect">
            <a:avLst/>
          </a:prstGeom>
          <a:ln>
            <a:noFill/>
          </a:ln>
        </p:spPr>
      </p:pic>
      <p:sp>
        <p:nvSpPr>
          <p:cNvPr id="75" name="CustomShape 1"/>
          <p:cNvSpPr/>
          <p:nvPr/>
        </p:nvSpPr>
        <p:spPr>
          <a:xfrm>
            <a:off x="673560" y="584280"/>
            <a:ext cx="3354840" cy="1606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just">
              <a:lnSpc>
                <a:spcPct val="100000"/>
              </a:lnSpc>
            </a:pPr>
            <a:r>
              <a:rPr b="0" lang="en-US" sz="3200" spc="-1" strike="noStrike">
                <a:solidFill>
                  <a:srgbClr val="ffffff"/>
                </a:solidFill>
                <a:latin typeface="MiSans"/>
                <a:ea typeface="MiSans"/>
              </a:rPr>
              <a:t>Vender en pozo: oportunidad y caos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76" name="Image 1" descr="https://kimi-img.moonshot.cn/pub/slides/slides_tmpl/image/25-10-09-18:34:41-d3jovg8s8jdo4os5ds00.jpg"/>
          <p:cNvPicPr/>
          <p:nvPr/>
        </p:nvPicPr>
        <p:blipFill>
          <a:blip r:embed="rId3"/>
          <a:srcRect l="21770" t="0" r="21770" b="0"/>
          <a:stretch/>
        </p:blipFill>
        <p:spPr>
          <a:xfrm>
            <a:off x="4236840" y="-4320"/>
            <a:ext cx="3251520" cy="4318920"/>
          </a:xfrm>
          <a:prstGeom prst="rect">
            <a:avLst/>
          </a:prstGeom>
          <a:ln>
            <a:noFill/>
          </a:ln>
        </p:spPr>
      </p:pic>
      <p:pic>
        <p:nvPicPr>
          <p:cNvPr id="77" name="Image 2" descr="https://kimi-img.moonshot.cn/pub/slides/slides_tmpl/image/25-10-09-18:34:59-d3jovkos8jdo4os5dsf0.jpg"/>
          <p:cNvPicPr/>
          <p:nvPr/>
        </p:nvPicPr>
        <p:blipFill>
          <a:blip r:embed="rId4"/>
          <a:srcRect l="21874" t="0" r="21874" b="0"/>
          <a:stretch/>
        </p:blipFill>
        <p:spPr>
          <a:xfrm>
            <a:off x="800640" y="2390760"/>
            <a:ext cx="2977200" cy="3969000"/>
          </a:xfrm>
          <a:prstGeom prst="rect">
            <a:avLst/>
          </a:prstGeom>
          <a:ln>
            <a:noFill/>
          </a:ln>
        </p:spPr>
      </p:pic>
      <p:sp>
        <p:nvSpPr>
          <p:cNvPr id="78" name="CustomShape 2"/>
          <p:cNvSpPr/>
          <p:nvPr/>
        </p:nvSpPr>
        <p:spPr>
          <a:xfrm>
            <a:off x="4858560" y="4500360"/>
            <a:ext cx="1141560" cy="722880"/>
          </a:xfrm>
          <a:custGeom>
            <a:avLst/>
            <a:gdLst/>
            <a:ah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9" name="CustomShape 3"/>
          <p:cNvSpPr/>
          <p:nvPr/>
        </p:nvSpPr>
        <p:spPr>
          <a:xfrm>
            <a:off x="4858560" y="4500360"/>
            <a:ext cx="1141560" cy="72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80" name="Image 3" descr="https://kimi-img.moonshot.cn/pub/slides/slides_tmpl/image/25-10-09-18:34:44-d3jovh0s8jdo4os5ds1g.png"/>
          <p:cNvPicPr/>
          <p:nvPr/>
        </p:nvPicPr>
        <p:blipFill>
          <a:blip r:embed="rId5"/>
          <a:stretch/>
        </p:blipFill>
        <p:spPr>
          <a:xfrm>
            <a:off x="4853160" y="4500360"/>
            <a:ext cx="1933200" cy="2047680"/>
          </a:xfrm>
          <a:prstGeom prst="rect">
            <a:avLst/>
          </a:prstGeom>
          <a:ln>
            <a:noFill/>
          </a:ln>
        </p:spPr>
      </p:pic>
      <p:sp>
        <p:nvSpPr>
          <p:cNvPr id="81" name="CustomShape 4"/>
          <p:cNvSpPr/>
          <p:nvPr/>
        </p:nvSpPr>
        <p:spPr>
          <a:xfrm>
            <a:off x="7814520" y="593280"/>
            <a:ext cx="3835080" cy="36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00000"/>
              </a:lnSpc>
            </a:pPr>
            <a:r>
              <a:rPr b="1" lang="en-US" sz="1800" spc="-1" strike="noStrike">
                <a:solidFill>
                  <a:srgbClr val="ffeb6d"/>
                </a:solidFill>
                <a:latin typeface="MiSans"/>
                <a:ea typeface="MiSans"/>
              </a:rPr>
              <a:t>Desorden en la gestión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2" name="CustomShape 5"/>
          <p:cNvSpPr/>
          <p:nvPr/>
        </p:nvSpPr>
        <p:spPr>
          <a:xfrm>
            <a:off x="7810200" y="950040"/>
            <a:ext cx="3835080" cy="115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 algn="just"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MiSans"/>
                <a:ea typeface="MiSans"/>
              </a:rPr>
              <a:t>Cada proyecto en pozo tiene su propio sistema de gestión, como Excel, carpetas de fotos y cronogramas, lo que complica la organización y ralentiza el proceso de venta.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3" name="CustomShape 6"/>
          <p:cNvSpPr/>
          <p:nvPr/>
        </p:nvSpPr>
        <p:spPr>
          <a:xfrm>
            <a:off x="7801560" y="2566080"/>
            <a:ext cx="3835080" cy="639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00000"/>
              </a:lnSpc>
            </a:pPr>
            <a:r>
              <a:rPr b="1" lang="en-US" sz="1800" spc="-1" strike="noStrike">
                <a:solidFill>
                  <a:srgbClr val="ffeb6d"/>
                </a:solidFill>
                <a:latin typeface="MiSans"/>
                <a:ea typeface="MiSans"/>
              </a:rPr>
              <a:t>Tiempo perdido en consultas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4" name="CustomShape 7"/>
          <p:cNvSpPr/>
          <p:nvPr/>
        </p:nvSpPr>
        <p:spPr>
          <a:xfrm>
            <a:off x="7810200" y="3047760"/>
            <a:ext cx="3835080" cy="115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 algn="just"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MiSans"/>
                <a:ea typeface="MiSans"/>
              </a:rPr>
              <a:t>Los equipos de venta pierden valioso tiempo buscando información básica como listas de precios, disponibilidad de unidades y avance de obra, en lugar de cerrar ventas.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5" name="CustomShape 8"/>
          <p:cNvSpPr/>
          <p:nvPr/>
        </p:nvSpPr>
        <p:spPr>
          <a:xfrm>
            <a:off x="7842240" y="4675320"/>
            <a:ext cx="3835080" cy="639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00000"/>
              </a:lnSpc>
            </a:pPr>
            <a:r>
              <a:rPr b="1" lang="en-US" sz="1800" spc="-1" strike="noStrike">
                <a:solidFill>
                  <a:srgbClr val="ffeb6d"/>
                </a:solidFill>
                <a:latin typeface="MiSans"/>
                <a:ea typeface="MiSans"/>
              </a:rPr>
              <a:t>Frustración de los inversores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6" name="CustomShape 9"/>
          <p:cNvSpPr/>
          <p:nvPr/>
        </p:nvSpPr>
        <p:spPr>
          <a:xfrm>
            <a:off x="7816320" y="5157360"/>
            <a:ext cx="3835080" cy="115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 algn="just"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MiSans"/>
                <a:ea typeface="MiSans"/>
              </a:rPr>
              <a:t>Los inversores se sienten desatendidos y frustrados al tener que perseguir información sobre el avance de su obra y el estado de sus pagos, lo que puede afectar la confianza.</a:t>
            </a:r>
            <a:endParaRPr b="0" lang="en-US" sz="1400" spc="-1" strike="noStrike">
              <a:latin typeface="Arial"/>
            </a:endParaRPr>
          </a:p>
        </p:txBody>
      </p:sp>
    </p:spTree>
  </p:cSld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CustomShape 1"/>
          <p:cNvSpPr/>
          <p:nvPr/>
        </p:nvSpPr>
        <p:spPr>
          <a:xfrm>
            <a:off x="3011040" y="1333080"/>
            <a:ext cx="1541520" cy="2925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9600" spc="-1" strike="noStrike">
                <a:solidFill>
                  <a:srgbClr val="ffffff"/>
                </a:solidFill>
                <a:latin typeface="MiSans"/>
                <a:ea typeface="MiSans"/>
              </a:rPr>
              <a:t>02</a:t>
            </a:r>
            <a:endParaRPr b="0" lang="en-US" sz="9600" spc="-1" strike="noStrike">
              <a:latin typeface="Arial"/>
            </a:endParaRPr>
          </a:p>
        </p:txBody>
      </p:sp>
      <p:sp>
        <p:nvSpPr>
          <p:cNvPr id="88" name="CustomShape 2"/>
          <p:cNvSpPr/>
          <p:nvPr/>
        </p:nvSpPr>
        <p:spPr>
          <a:xfrm>
            <a:off x="1482480" y="4223880"/>
            <a:ext cx="4599000" cy="610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4000" spc="-1" strike="noStrike">
                <a:solidFill>
                  <a:srgbClr val="ffffff"/>
                </a:solidFill>
                <a:latin typeface="MiSans"/>
                <a:ea typeface="MiSans"/>
              </a:rPr>
              <a:t>Qué es Vertice360</a:t>
            </a:r>
            <a:endParaRPr b="0" lang="en-US" sz="4000" spc="-1" strike="noStrike">
              <a:latin typeface="Arial"/>
            </a:endParaRPr>
          </a:p>
        </p:txBody>
      </p:sp>
      <p:pic>
        <p:nvPicPr>
          <p:cNvPr id="89" name="Image 0" descr="https://kimi-img.moonshot.cn/pub/slides/slides_tmpl/image/25-10-09-18:34:36-d3jovf0s8jdo4os5dru0.png"/>
          <p:cNvPicPr/>
          <p:nvPr/>
        </p:nvPicPr>
        <p:blipFill>
          <a:blip r:embed="rId2"/>
          <a:stretch/>
        </p:blipFill>
        <p:spPr>
          <a:xfrm>
            <a:off x="6743880" y="1768320"/>
            <a:ext cx="4562280" cy="4204440"/>
          </a:xfrm>
          <a:prstGeom prst="rect">
            <a:avLst/>
          </a:prstGeom>
          <a:ln>
            <a:noFill/>
          </a:ln>
        </p:spPr>
      </p:pic>
      <p:pic>
        <p:nvPicPr>
          <p:cNvPr id="90" name="Image 1" descr="https://kimi-img.moonshot.cn/pub/slides/slides_tmpl/image/25-10-09-18:34:26-d3jovcgs8jdo4os5drn0.png"/>
          <p:cNvPicPr/>
          <p:nvPr/>
        </p:nvPicPr>
        <p:blipFill>
          <a:blip r:embed="rId3"/>
          <a:srcRect l="38333" t="0" r="38333" b="0"/>
          <a:stretch/>
        </p:blipFill>
        <p:spPr>
          <a:xfrm>
            <a:off x="2655000" y="3534480"/>
            <a:ext cx="2382840" cy="195120"/>
          </a:xfrm>
          <a:prstGeom prst="rect">
            <a:avLst/>
          </a:prstGeom>
          <a:ln>
            <a:noFill/>
          </a:ln>
        </p:spPr>
      </p:pic>
      <p:pic>
        <p:nvPicPr>
          <p:cNvPr id="91" name="Image 2" descr="https://kimi-img.moonshot.cn/pub/slides/slides_tmpl/image/25-10-09-18:34:33-d3jove8s8jdo4os5drrg.png"/>
          <p:cNvPicPr/>
          <p:nvPr/>
        </p:nvPicPr>
        <p:blipFill>
          <a:blip r:embed="rId4"/>
          <a:stretch/>
        </p:blipFill>
        <p:spPr>
          <a:xfrm>
            <a:off x="864720" y="586080"/>
            <a:ext cx="1789560" cy="1789560"/>
          </a:xfrm>
          <a:prstGeom prst="rect">
            <a:avLst/>
          </a:prstGeom>
          <a:ln>
            <a:noFill/>
          </a:ln>
        </p:spPr>
      </p:pic>
    </p:spTree>
  </p:cSld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Image 0" descr="https://kimi-img.moonshot.cn/pub/slides/slides_tmpl/image/25-10-09-18:34:26-d3jovcgs8jdo4os5drn0.png"/>
          <p:cNvPicPr/>
          <p:nvPr/>
        </p:nvPicPr>
        <p:blipFill>
          <a:blip r:embed="rId2"/>
          <a:srcRect l="11094" t="452" r="12477" b="452"/>
          <a:stretch/>
        </p:blipFill>
        <p:spPr>
          <a:xfrm>
            <a:off x="0" y="690120"/>
            <a:ext cx="5745240" cy="1550160"/>
          </a:xfrm>
          <a:prstGeom prst="rect">
            <a:avLst/>
          </a:prstGeom>
          <a:ln>
            <a:noFill/>
          </a:ln>
        </p:spPr>
      </p:pic>
      <p:sp>
        <p:nvSpPr>
          <p:cNvPr id="93" name="CustomShape 1"/>
          <p:cNvSpPr/>
          <p:nvPr/>
        </p:nvSpPr>
        <p:spPr>
          <a:xfrm>
            <a:off x="777960" y="690840"/>
            <a:ext cx="4656240" cy="1549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just"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latin typeface="MiSans"/>
                <a:ea typeface="MiSans"/>
              </a:rPr>
              <a:t>Asistente digital que centraliza tu negocio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94" name="Image 1" descr="https://kimi-img.moonshot.cn/pub/slides/slides_tmpl/image/25-10-09-18:34:51-d3jovios8jdo4os5ds5g.jpg"/>
          <p:cNvPicPr/>
          <p:nvPr/>
        </p:nvPicPr>
        <p:blipFill>
          <a:blip r:embed="rId3"/>
          <a:srcRect l="16572" t="0" r="16572" b="0"/>
          <a:stretch/>
        </p:blipFill>
        <p:spPr>
          <a:xfrm>
            <a:off x="6095880" y="19800"/>
            <a:ext cx="6095520" cy="6837840"/>
          </a:xfrm>
          <a:prstGeom prst="rect">
            <a:avLst/>
          </a:prstGeom>
          <a:ln>
            <a:noFill/>
          </a:ln>
        </p:spPr>
      </p:pic>
      <p:sp>
        <p:nvSpPr>
          <p:cNvPr id="95" name="CustomShape 2"/>
          <p:cNvSpPr/>
          <p:nvPr/>
        </p:nvSpPr>
        <p:spPr>
          <a:xfrm>
            <a:off x="777600" y="2752560"/>
            <a:ext cx="4933800" cy="396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 algn="just">
              <a:lnSpc>
                <a:spcPct val="100000"/>
              </a:lnSpc>
            </a:pPr>
            <a:r>
              <a:rPr b="1" lang="en-US" sz="2000" spc="-1" strike="noStrike">
                <a:solidFill>
                  <a:srgbClr val="ffeb6d"/>
                </a:solidFill>
                <a:latin typeface="MiSans"/>
                <a:ea typeface="MiSans"/>
              </a:rPr>
              <a:t>Centralización de datos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96" name="CustomShape 3"/>
          <p:cNvSpPr/>
          <p:nvPr/>
        </p:nvSpPr>
        <p:spPr>
          <a:xfrm>
            <a:off x="810360" y="3288600"/>
            <a:ext cx="4647240" cy="944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MiSans"/>
                <a:ea typeface="MiSans"/>
              </a:rPr>
              <a:t>Vertice360 integra todos los datos de tus emprendimientos en pozo en una única plataforma, eliminando la necesidad de múltiples sistemas y archivos dispersos.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7" name="CustomShape 4"/>
          <p:cNvSpPr/>
          <p:nvPr/>
        </p:nvSpPr>
        <p:spPr>
          <a:xfrm>
            <a:off x="777600" y="4627440"/>
            <a:ext cx="4983480" cy="397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00000"/>
              </a:lnSpc>
            </a:pPr>
            <a:r>
              <a:rPr b="1" lang="en-US" sz="2000" spc="-1" strike="noStrike">
                <a:solidFill>
                  <a:srgbClr val="ffeb6d"/>
                </a:solidFill>
                <a:latin typeface="MiSans"/>
                <a:ea typeface="MiSans"/>
              </a:rPr>
              <a:t>Experiencia simple y rápida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98" name="CustomShape 5"/>
          <p:cNvSpPr/>
          <p:nvPr/>
        </p:nvSpPr>
        <p:spPr>
          <a:xfrm>
            <a:off x="787320" y="5050800"/>
            <a:ext cx="4647240" cy="11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MiSans"/>
                <a:ea typeface="MiSans"/>
              </a:rPr>
              <a:t>Funciona como un asistente digital que responde en lenguaje humano y en tiempo real, permitiendo a directores, vendedores e inversores obtener la información que necesitan sin complicaciones técnicas.</a:t>
            </a:r>
            <a:endParaRPr b="0" lang="en-US" sz="1400" spc="-1" strike="noStrike">
              <a:latin typeface="Arial"/>
            </a:endParaRPr>
          </a:p>
        </p:txBody>
      </p:sp>
    </p:spTree>
  </p:cSld>
  <p:transition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CustomShape 1"/>
          <p:cNvSpPr/>
          <p:nvPr/>
        </p:nvSpPr>
        <p:spPr>
          <a:xfrm>
            <a:off x="3011040" y="1333080"/>
            <a:ext cx="1541520" cy="2925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9600" spc="-1" strike="noStrike">
                <a:solidFill>
                  <a:srgbClr val="ffffff"/>
                </a:solidFill>
                <a:latin typeface="MiSans"/>
                <a:ea typeface="MiSans"/>
              </a:rPr>
              <a:t>03</a:t>
            </a:r>
            <a:endParaRPr b="0" lang="en-US" sz="9600" spc="-1" strike="noStrike">
              <a:latin typeface="Arial"/>
            </a:endParaRPr>
          </a:p>
        </p:txBody>
      </p:sp>
      <p:sp>
        <p:nvSpPr>
          <p:cNvPr id="100" name="CustomShape 2"/>
          <p:cNvSpPr/>
          <p:nvPr/>
        </p:nvSpPr>
        <p:spPr>
          <a:xfrm>
            <a:off x="1482480" y="4223880"/>
            <a:ext cx="4599000" cy="610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4000" spc="-1" strike="noStrike">
                <a:solidFill>
                  <a:srgbClr val="ffffff"/>
                </a:solidFill>
                <a:latin typeface="MiSans"/>
                <a:ea typeface="MiSans"/>
              </a:rPr>
              <a:t>Soluciones clave</a:t>
            </a:r>
            <a:endParaRPr b="0" lang="en-US" sz="4000" spc="-1" strike="noStrike">
              <a:latin typeface="Arial"/>
            </a:endParaRPr>
          </a:p>
        </p:txBody>
      </p:sp>
      <p:pic>
        <p:nvPicPr>
          <p:cNvPr id="101" name="Image 0" descr="https://kimi-img.moonshot.cn/pub/slides/slides_tmpl/image/25-10-09-18:34:36-d3jovf0s8jdo4os5dru0.png"/>
          <p:cNvPicPr/>
          <p:nvPr/>
        </p:nvPicPr>
        <p:blipFill>
          <a:blip r:embed="rId2"/>
          <a:stretch/>
        </p:blipFill>
        <p:spPr>
          <a:xfrm>
            <a:off x="6743880" y="1768320"/>
            <a:ext cx="4562280" cy="4204440"/>
          </a:xfrm>
          <a:prstGeom prst="rect">
            <a:avLst/>
          </a:prstGeom>
          <a:ln>
            <a:noFill/>
          </a:ln>
        </p:spPr>
      </p:pic>
      <p:pic>
        <p:nvPicPr>
          <p:cNvPr id="102" name="Image 1" descr="https://kimi-img.moonshot.cn/pub/slides/slides_tmpl/image/25-10-09-18:34:26-d3jovcgs8jdo4os5drn0.png"/>
          <p:cNvPicPr/>
          <p:nvPr/>
        </p:nvPicPr>
        <p:blipFill>
          <a:blip r:embed="rId3"/>
          <a:srcRect l="38333" t="0" r="38333" b="0"/>
          <a:stretch/>
        </p:blipFill>
        <p:spPr>
          <a:xfrm>
            <a:off x="2655000" y="3534480"/>
            <a:ext cx="2382840" cy="195120"/>
          </a:xfrm>
          <a:prstGeom prst="rect">
            <a:avLst/>
          </a:prstGeom>
          <a:ln>
            <a:noFill/>
          </a:ln>
        </p:spPr>
      </p:pic>
      <p:pic>
        <p:nvPicPr>
          <p:cNvPr id="103" name="Image 2" descr="https://kimi-img.moonshot.cn/pub/slides/slides_tmpl/image/25-10-09-18:34:33-d3jove8s8jdo4os5drrg.png"/>
          <p:cNvPicPr/>
          <p:nvPr/>
        </p:nvPicPr>
        <p:blipFill>
          <a:blip r:embed="rId4"/>
          <a:stretch/>
        </p:blipFill>
        <p:spPr>
          <a:xfrm>
            <a:off x="864720" y="586080"/>
            <a:ext cx="1789560" cy="1789560"/>
          </a:xfrm>
          <a:prstGeom prst="rect">
            <a:avLst/>
          </a:prstGeom>
          <a:ln>
            <a:noFill/>
          </a:ln>
        </p:spPr>
      </p:pic>
    </p:spTree>
  </p:cSld>
  <p:transition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Image 0" descr="https://kimi-img.moonshot.cn/pub/slides/slides_tmpl/image/25-10-09-18:34:26-d3jovcgs8jdo4os5drn0.png"/>
          <p:cNvPicPr/>
          <p:nvPr/>
        </p:nvPicPr>
        <p:blipFill>
          <a:blip r:embed="rId2"/>
          <a:srcRect l="0" t="39211" r="0" b="39211"/>
          <a:stretch/>
        </p:blipFill>
        <p:spPr>
          <a:xfrm>
            <a:off x="720" y="795600"/>
            <a:ext cx="12191040" cy="719640"/>
          </a:xfrm>
          <a:prstGeom prst="rect">
            <a:avLst/>
          </a:prstGeom>
          <a:ln>
            <a:noFill/>
          </a:ln>
        </p:spPr>
      </p:pic>
      <p:sp>
        <p:nvSpPr>
          <p:cNvPr id="105" name="CustomShape 1"/>
          <p:cNvSpPr/>
          <p:nvPr/>
        </p:nvSpPr>
        <p:spPr>
          <a:xfrm>
            <a:off x="948600" y="4956840"/>
            <a:ext cx="3570120" cy="1263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just">
              <a:lnSpc>
                <a:spcPct val="110000"/>
              </a:lnSpc>
            </a:pPr>
            <a:r>
              <a:rPr b="0" lang="en-US" sz="3200" spc="-1" strike="noStrike">
                <a:solidFill>
                  <a:srgbClr val="ffffff"/>
                </a:solidFill>
                <a:latin typeface="MiSans"/>
                <a:ea typeface="MiSans"/>
              </a:rPr>
              <a:t>Captación y conversión de leads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106" name="Image 1" descr="https://kimi-img.moonshot.cn/pub/slides/slides_tmpl/image/25-10-09-18:34:43-d3jovgos8jdo4os5ds10.jpg"/>
          <p:cNvPicPr/>
          <p:nvPr/>
        </p:nvPicPr>
        <p:blipFill>
          <a:blip r:embed="rId3"/>
          <a:srcRect l="0" t="5503" r="0" b="5503"/>
          <a:stretch/>
        </p:blipFill>
        <p:spPr>
          <a:xfrm>
            <a:off x="9201960" y="1189440"/>
            <a:ext cx="2491920" cy="1663200"/>
          </a:xfrm>
          <a:prstGeom prst="rect">
            <a:avLst/>
          </a:prstGeom>
          <a:ln>
            <a:noFill/>
          </a:ln>
        </p:spPr>
      </p:pic>
      <p:pic>
        <p:nvPicPr>
          <p:cNvPr id="107" name="Image 2" descr="https://kimi-img.moonshot.cn/pub/slides/slides_tmpl/image/25-10-09-18:34:54-d3jovjgs8jdo4os5ds9g.jpg"/>
          <p:cNvPicPr/>
          <p:nvPr/>
        </p:nvPicPr>
        <p:blipFill>
          <a:blip r:embed="rId4"/>
          <a:srcRect l="35537" t="3203" r="10721" b="5326"/>
          <a:stretch/>
        </p:blipFill>
        <p:spPr>
          <a:xfrm>
            <a:off x="9201960" y="2965320"/>
            <a:ext cx="2491920" cy="3202920"/>
          </a:xfrm>
          <a:prstGeom prst="rect">
            <a:avLst/>
          </a:prstGeom>
          <a:ln>
            <a:noFill/>
          </a:ln>
        </p:spPr>
      </p:pic>
      <p:pic>
        <p:nvPicPr>
          <p:cNvPr id="108" name="Image 3" descr="https://kimi-img.moonshot.cn/pub/slides/slides_tmpl/image/25-10-09-18:35:02-d3jovlgs8jdo4os5dshg.jpeg"/>
          <p:cNvPicPr/>
          <p:nvPr/>
        </p:nvPicPr>
        <p:blipFill>
          <a:blip r:embed="rId5"/>
          <a:srcRect l="2477" t="0" r="2477" b="0"/>
          <a:stretch/>
        </p:blipFill>
        <p:spPr>
          <a:xfrm>
            <a:off x="6652440" y="4460760"/>
            <a:ext cx="2408040" cy="1688040"/>
          </a:xfrm>
          <a:prstGeom prst="rect">
            <a:avLst/>
          </a:prstGeom>
          <a:ln>
            <a:noFill/>
          </a:ln>
        </p:spPr>
      </p:pic>
      <p:sp>
        <p:nvSpPr>
          <p:cNvPr id="109" name="CustomShape 2"/>
          <p:cNvSpPr/>
          <p:nvPr/>
        </p:nvSpPr>
        <p:spPr>
          <a:xfrm>
            <a:off x="943560" y="896760"/>
            <a:ext cx="3676320" cy="639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MiSans"/>
                <a:ea typeface="MiSans"/>
              </a:rPr>
              <a:t>Calificación automática de leads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0" name="CustomShape 3"/>
          <p:cNvSpPr/>
          <p:nvPr/>
        </p:nvSpPr>
        <p:spPr>
          <a:xfrm>
            <a:off x="948600" y="1796400"/>
            <a:ext cx="3295800" cy="2010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5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MiSans"/>
                <a:ea typeface="MiSans"/>
              </a:rPr>
              <a:t>Vertice360 califica automáticamente a los interesados que llegan desde la web o campañas, filtrando por presupuesto, zona y plazo, y entregando leads ya ordenados y listos para trabajar.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1" name="CustomShape 4"/>
          <p:cNvSpPr/>
          <p:nvPr/>
        </p:nvSpPr>
        <p:spPr>
          <a:xfrm>
            <a:off x="5081400" y="896760"/>
            <a:ext cx="3659760" cy="639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MiSans"/>
                <a:ea typeface="MiSans"/>
              </a:rPr>
              <a:t>Reducción de pérdida de oportunidades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2" name="CustomShape 5"/>
          <p:cNvSpPr/>
          <p:nvPr/>
        </p:nvSpPr>
        <p:spPr>
          <a:xfrm>
            <a:off x="5084280" y="1642680"/>
            <a:ext cx="3295800" cy="2329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5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MiSans"/>
                <a:ea typeface="MiSans"/>
              </a:rPr>
              <a:t>Al activar el seguimiento inmediato y proporcionar proyectos que encajan con el perfil del interesado, Vertice360 reduce significativamente la pérdida de oportunidades de venta.</a:t>
            </a:r>
            <a:endParaRPr b="0" lang="en-US" sz="1400" spc="-1" strike="noStrike">
              <a:latin typeface="Arial"/>
            </a:endParaRPr>
          </a:p>
        </p:txBody>
      </p:sp>
    </p:spTree>
  </p:cSld>
  <p:transition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Image 0" descr="https://kimi-img.moonshot.cn/pub/slides/slides_tmpl/image/25-10-09-18:34:26-d3jovcgs8jdo4os5drn0.png"/>
          <p:cNvPicPr/>
          <p:nvPr/>
        </p:nvPicPr>
        <p:blipFill>
          <a:blip r:embed="rId2"/>
          <a:srcRect l="7313" t="14961" r="9316" b="14221"/>
          <a:stretch/>
        </p:blipFill>
        <p:spPr>
          <a:xfrm>
            <a:off x="0" y="310680"/>
            <a:ext cx="7306560" cy="1470960"/>
          </a:xfrm>
          <a:prstGeom prst="rect">
            <a:avLst/>
          </a:prstGeom>
          <a:ln>
            <a:noFill/>
          </a:ln>
        </p:spPr>
      </p:pic>
      <p:sp>
        <p:nvSpPr>
          <p:cNvPr id="114" name="CustomShape 1"/>
          <p:cNvSpPr/>
          <p:nvPr/>
        </p:nvSpPr>
        <p:spPr>
          <a:xfrm>
            <a:off x="708120" y="309240"/>
            <a:ext cx="6031440" cy="1470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just"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latin typeface="MiSans"/>
                <a:ea typeface="MiSans"/>
              </a:rPr>
              <a:t>Vendedor asistido en cada contacto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115" name="Image 1" descr="https://kimi-img.moonshot.cn/pub/slides/slides_tmpl/image/25-10-09-18:35:00-d3jovl0s8jdo4os5dsfg.jpeg"/>
          <p:cNvPicPr/>
          <p:nvPr/>
        </p:nvPicPr>
        <p:blipFill>
          <a:blip r:embed="rId3"/>
          <a:srcRect l="837" t="0" r="837" b="0"/>
          <a:stretch/>
        </p:blipFill>
        <p:spPr>
          <a:xfrm>
            <a:off x="3628800" y="1913400"/>
            <a:ext cx="3662280" cy="2154600"/>
          </a:xfrm>
          <a:prstGeom prst="rect">
            <a:avLst/>
          </a:prstGeom>
          <a:ln>
            <a:noFill/>
          </a:ln>
        </p:spPr>
      </p:pic>
      <p:pic>
        <p:nvPicPr>
          <p:cNvPr id="116" name="Image 2" descr="https://kimi-img.moonshot.cn/pub/slides/slides_tmpl/image/25-10-09-18:35:01-d3jovl8s8jdo4os5dsh0.jpeg"/>
          <p:cNvPicPr/>
          <p:nvPr/>
        </p:nvPicPr>
        <p:blipFill>
          <a:blip r:embed="rId4"/>
          <a:srcRect l="0" t="6470" r="0" b="6470"/>
          <a:stretch/>
        </p:blipFill>
        <p:spPr>
          <a:xfrm>
            <a:off x="7722360" y="1913400"/>
            <a:ext cx="3662280" cy="2125080"/>
          </a:xfrm>
          <a:prstGeom prst="rect">
            <a:avLst/>
          </a:prstGeom>
          <a:ln>
            <a:noFill/>
          </a:ln>
        </p:spPr>
      </p:pic>
      <p:pic>
        <p:nvPicPr>
          <p:cNvPr id="117" name="Image 3" descr="https://kimi-img.moonshot.cn/pub/slides/slides_tmpl/image/25-10-09-18:34:26-d3jovcgs8jdo4os5drn0.png"/>
          <p:cNvPicPr/>
          <p:nvPr/>
        </p:nvPicPr>
        <p:blipFill>
          <a:blip r:embed="rId5"/>
          <a:srcRect l="49325" t="0" r="49325" b="0"/>
          <a:stretch/>
        </p:blipFill>
        <p:spPr>
          <a:xfrm>
            <a:off x="11945160" y="666720"/>
            <a:ext cx="269640" cy="5491800"/>
          </a:xfrm>
          <a:prstGeom prst="rect">
            <a:avLst/>
          </a:prstGeom>
          <a:ln>
            <a:noFill/>
          </a:ln>
        </p:spPr>
      </p:pic>
      <p:pic>
        <p:nvPicPr>
          <p:cNvPr id="118" name="Image 4" descr="https://kimi-img.moonshot.cn/pub/slides/slides_tmpl/image/25-10-09-18:34:45-d3jovh8s8jdo4os5ds30.png"/>
          <p:cNvPicPr/>
          <p:nvPr/>
        </p:nvPicPr>
        <p:blipFill>
          <a:blip r:embed="rId6"/>
          <a:stretch/>
        </p:blipFill>
        <p:spPr>
          <a:xfrm>
            <a:off x="8794080" y="330120"/>
            <a:ext cx="1518480" cy="1518480"/>
          </a:xfrm>
          <a:prstGeom prst="rect">
            <a:avLst/>
          </a:prstGeom>
          <a:ln>
            <a:noFill/>
          </a:ln>
        </p:spPr>
      </p:pic>
      <p:sp>
        <p:nvSpPr>
          <p:cNvPr id="119" name="CustomShape 2"/>
          <p:cNvSpPr/>
          <p:nvPr/>
        </p:nvSpPr>
        <p:spPr>
          <a:xfrm>
            <a:off x="707760" y="2005920"/>
            <a:ext cx="2043720" cy="913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00000"/>
              </a:lnSpc>
            </a:pPr>
            <a:r>
              <a:rPr b="1" lang="en-US" sz="1800" spc="-1" strike="noStrike">
                <a:solidFill>
                  <a:srgbClr val="ffeb6d"/>
                </a:solidFill>
                <a:latin typeface="MiSans"/>
                <a:ea typeface="MiSans"/>
              </a:rPr>
              <a:t>Consulta instantánea de datos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0" name="CustomShape 3"/>
          <p:cNvSpPr/>
          <p:nvPr/>
        </p:nvSpPr>
        <p:spPr>
          <a:xfrm>
            <a:off x="716400" y="3153960"/>
            <a:ext cx="2481120" cy="2329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5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MiSans"/>
                <a:ea typeface="MiSans"/>
              </a:rPr>
              <a:t>Durante la conversación con el cliente, el equipo de ventas puede consultar al instante unidades disponibles, opciones de pago y otras condiciones específicas.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1" name="CustomShape 4"/>
          <p:cNvSpPr/>
          <p:nvPr/>
        </p:nvSpPr>
        <p:spPr>
          <a:xfrm>
            <a:off x="3576600" y="4025160"/>
            <a:ext cx="3411000" cy="639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00000"/>
              </a:lnSpc>
            </a:pPr>
            <a:r>
              <a:rPr b="1" lang="en-US" sz="1800" spc="-1" strike="noStrike">
                <a:solidFill>
                  <a:srgbClr val="ffeb6d"/>
                </a:solidFill>
                <a:latin typeface="MiSans"/>
                <a:ea typeface="MiSans"/>
              </a:rPr>
              <a:t>Propuestas rápidas y precisas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2" name="CustomShape 5"/>
          <p:cNvSpPr/>
          <p:nvPr/>
        </p:nvSpPr>
        <p:spPr>
          <a:xfrm>
            <a:off x="3588480" y="4684320"/>
            <a:ext cx="3720240" cy="1690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5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MiSans"/>
                <a:ea typeface="MiSans"/>
              </a:rPr>
              <a:t>El sistema devuelve una lista filtrada con información clave, permitiendo al vendedor armar una propuesta en minutos y cerrar ventas de manera más eficiente.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3" name="CustomShape 6"/>
          <p:cNvSpPr/>
          <p:nvPr/>
        </p:nvSpPr>
        <p:spPr>
          <a:xfrm>
            <a:off x="7722360" y="4025160"/>
            <a:ext cx="3411000" cy="639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00000"/>
              </a:lnSpc>
            </a:pPr>
            <a:r>
              <a:rPr b="1" lang="en-US" sz="1800" spc="-1" strike="noStrike">
                <a:solidFill>
                  <a:srgbClr val="ffeb6d"/>
                </a:solidFill>
                <a:latin typeface="MiSans"/>
                <a:ea typeface="MiSans"/>
              </a:rPr>
              <a:t>Mejora en la experiencia del cliente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4" name="CustomShape 7"/>
          <p:cNvSpPr/>
          <p:nvPr/>
        </p:nvSpPr>
        <p:spPr>
          <a:xfrm>
            <a:off x="7738200" y="4844160"/>
            <a:ext cx="3720240" cy="137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5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MiSans"/>
                <a:ea typeface="MiSans"/>
              </a:rPr>
              <a:t>El cliente se siente atendido con seguridad y rapidez, lo que aumenta la confianza y la probabilidad de cerrar la venta.</a:t>
            </a:r>
            <a:endParaRPr b="0" lang="en-US" sz="1400" spc="-1" strike="noStrike">
              <a:latin typeface="Arial"/>
            </a:endParaRPr>
          </a:p>
        </p:txBody>
      </p:sp>
    </p:spTree>
  </p:cSld>
  <p:transition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Image 0" descr="https://kimi-img.moonshot.cn/pub/slides/slides_tmpl/image/25-10-09-18:34:26-d3jovcgs8jdo4os5drn0.png"/>
          <p:cNvPicPr/>
          <p:nvPr/>
        </p:nvPicPr>
        <p:blipFill>
          <a:blip r:embed="rId2"/>
          <a:srcRect l="49167" t="0" r="49167" b="0"/>
          <a:stretch/>
        </p:blipFill>
        <p:spPr>
          <a:xfrm>
            <a:off x="5297040" y="0"/>
            <a:ext cx="418680" cy="6858360"/>
          </a:xfrm>
          <a:prstGeom prst="rect">
            <a:avLst/>
          </a:prstGeom>
          <a:ln>
            <a:noFill/>
          </a:ln>
        </p:spPr>
      </p:pic>
      <p:sp>
        <p:nvSpPr>
          <p:cNvPr id="126" name="CustomShape 1"/>
          <p:cNvSpPr/>
          <p:nvPr/>
        </p:nvSpPr>
        <p:spPr>
          <a:xfrm>
            <a:off x="561960" y="536040"/>
            <a:ext cx="4472640" cy="1263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just">
              <a:lnSpc>
                <a:spcPct val="100000"/>
              </a:lnSpc>
            </a:pPr>
            <a:r>
              <a:rPr b="0" lang="en-US" sz="3200" spc="-1" strike="noStrike">
                <a:solidFill>
                  <a:srgbClr val="ffffff"/>
                </a:solidFill>
                <a:latin typeface="MiSans"/>
                <a:ea typeface="MiSans"/>
              </a:rPr>
              <a:t>Inversor informado y tranquilo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127" name="Image 1" descr="https://kimi-img.moonshot.cn/pub/slides/slides_tmpl/image/25-10-09-18:34:57-d3jovk8s8jdo4os5dsdg.jpg"/>
          <p:cNvPicPr/>
          <p:nvPr/>
        </p:nvPicPr>
        <p:blipFill>
          <a:blip r:embed="rId3"/>
          <a:srcRect l="0" t="15171" r="0" b="15171"/>
          <a:stretch/>
        </p:blipFill>
        <p:spPr>
          <a:xfrm>
            <a:off x="5622120" y="0"/>
            <a:ext cx="6563880" cy="3428640"/>
          </a:xfrm>
          <a:prstGeom prst="rect">
            <a:avLst/>
          </a:prstGeom>
          <a:ln>
            <a:noFill/>
          </a:ln>
        </p:spPr>
      </p:pic>
      <p:pic>
        <p:nvPicPr>
          <p:cNvPr id="128" name="Image 2" descr="https://kimi-img.moonshot.cn/pub/slides/slides_tmpl/image/25-10-09-18:34:41-d3jovg8s8jdo4os5ds00.jpg"/>
          <p:cNvPicPr/>
          <p:nvPr/>
        </p:nvPicPr>
        <p:blipFill>
          <a:blip r:embed="rId4"/>
          <a:srcRect l="0" t="15209" r="0" b="15209"/>
          <a:stretch/>
        </p:blipFill>
        <p:spPr>
          <a:xfrm>
            <a:off x="5620680" y="3429000"/>
            <a:ext cx="6570720" cy="3428640"/>
          </a:xfrm>
          <a:prstGeom prst="rect">
            <a:avLst/>
          </a:prstGeom>
          <a:ln>
            <a:noFill/>
          </a:ln>
        </p:spPr>
      </p:pic>
      <p:sp>
        <p:nvSpPr>
          <p:cNvPr id="129" name="CustomShape 2"/>
          <p:cNvSpPr/>
          <p:nvPr/>
        </p:nvSpPr>
        <p:spPr>
          <a:xfrm>
            <a:off x="563760" y="2003760"/>
            <a:ext cx="4281840" cy="36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00000"/>
              </a:lnSpc>
            </a:pPr>
            <a:r>
              <a:rPr b="1" lang="en-US" sz="1800" spc="-1" strike="noStrike">
                <a:solidFill>
                  <a:srgbClr val="ffeb6d"/>
                </a:solidFill>
                <a:latin typeface="MiSans"/>
                <a:ea typeface="MiSans"/>
              </a:rPr>
              <a:t>Acceso fácil a información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0" name="CustomShape 3"/>
          <p:cNvSpPr/>
          <p:nvPr/>
        </p:nvSpPr>
        <p:spPr>
          <a:xfrm>
            <a:off x="586440" y="2305800"/>
            <a:ext cx="4281840" cy="1690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 algn="just">
              <a:lnSpc>
                <a:spcPct val="15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MiSans"/>
                <a:ea typeface="MiSans"/>
              </a:rPr>
              <a:t>El inversor puede acceder a un canal digital y preguntar en lenguaje natural sobre el avance de la obra, pagos realizados y próximas cuotas, obteniendo respuestas claras y actualizadas.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31" name="CustomShape 4"/>
          <p:cNvSpPr/>
          <p:nvPr/>
        </p:nvSpPr>
        <p:spPr>
          <a:xfrm>
            <a:off x="577080" y="4355640"/>
            <a:ext cx="4281840" cy="36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00000"/>
              </a:lnSpc>
            </a:pPr>
            <a:r>
              <a:rPr b="1" lang="en-US" sz="1800" spc="-1" strike="noStrike">
                <a:solidFill>
                  <a:srgbClr val="ffeb6d"/>
                </a:solidFill>
                <a:latin typeface="MiSans"/>
                <a:ea typeface="MiSans"/>
              </a:rPr>
              <a:t>Alertas proactivas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2" name="CustomShape 5"/>
          <p:cNvSpPr/>
          <p:nvPr/>
        </p:nvSpPr>
        <p:spPr>
          <a:xfrm>
            <a:off x="577440" y="4680720"/>
            <a:ext cx="4281840" cy="1370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 algn="just">
              <a:lnSpc>
                <a:spcPct val="15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MiSans"/>
                <a:ea typeface="MiSans"/>
              </a:rPr>
              <a:t>Vertice360 envía alertas proactivas sobre hitos importantes en la obra y recordatorios de pagos, manteniendo al inversor informado y tranquilo.</a:t>
            </a:r>
            <a:endParaRPr b="0" lang="en-US" sz="1400" spc="-1" strike="noStrike">
              <a:latin typeface="Arial"/>
            </a:endParaRPr>
          </a:p>
        </p:txBody>
      </p:sp>
    </p:spTree>
  </p:cSld>
  <p:transition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Image 0" descr="https://kimi-img.moonshot.cn/pub/slides/slides_tmpl/image/25-10-09-18:34:26-d3jovcgs8jdo4os5drn0.png"/>
          <p:cNvPicPr/>
          <p:nvPr/>
        </p:nvPicPr>
        <p:blipFill>
          <a:blip r:embed="rId2"/>
          <a:srcRect l="0" t="41554" r="0" b="41554"/>
          <a:stretch/>
        </p:blipFill>
        <p:spPr>
          <a:xfrm>
            <a:off x="0" y="6310080"/>
            <a:ext cx="12191760" cy="563040"/>
          </a:xfrm>
          <a:prstGeom prst="rect">
            <a:avLst/>
          </a:prstGeom>
          <a:ln>
            <a:noFill/>
          </a:ln>
        </p:spPr>
      </p:pic>
      <p:sp>
        <p:nvSpPr>
          <p:cNvPr id="134" name="CustomShape 1"/>
          <p:cNvSpPr/>
          <p:nvPr/>
        </p:nvSpPr>
        <p:spPr>
          <a:xfrm>
            <a:off x="628560" y="509400"/>
            <a:ext cx="11035800" cy="94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just">
              <a:lnSpc>
                <a:spcPct val="100000"/>
              </a:lnSpc>
            </a:pPr>
            <a:r>
              <a:rPr b="0" lang="en-US" sz="4000" spc="-1" strike="noStrike">
                <a:solidFill>
                  <a:srgbClr val="ffffff"/>
                </a:solidFill>
                <a:latin typeface="MiSans"/>
                <a:ea typeface="MiSans"/>
              </a:rPr>
              <a:t>Control en tiempo real para dirección</a:t>
            </a:r>
            <a:endParaRPr b="0" lang="en-US" sz="4000" spc="-1" strike="noStrike">
              <a:latin typeface="Arial"/>
            </a:endParaRPr>
          </a:p>
        </p:txBody>
      </p:sp>
      <p:pic>
        <p:nvPicPr>
          <p:cNvPr id="135" name="Image 1" descr="https://kimi-img.moonshot.cn/pub/slides/slides_tmpl/image/25-10-09-18:34:54-d3jovjgs8jdo4os5dsag.jpg"/>
          <p:cNvPicPr/>
          <p:nvPr/>
        </p:nvPicPr>
        <p:blipFill>
          <a:blip r:embed="rId3"/>
          <a:srcRect l="0" t="12126" r="0" b="23946"/>
          <a:stretch/>
        </p:blipFill>
        <p:spPr>
          <a:xfrm>
            <a:off x="763200" y="4935240"/>
            <a:ext cx="4608360" cy="1657080"/>
          </a:xfrm>
          <a:prstGeom prst="rect">
            <a:avLst/>
          </a:prstGeom>
          <a:ln>
            <a:noFill/>
          </a:ln>
        </p:spPr>
      </p:pic>
      <p:pic>
        <p:nvPicPr>
          <p:cNvPr id="136" name="Image 2" descr="https://kimi-img.moonshot.cn/pub/slides/slides_tmpl/image/25-10-09-18:34:44-d3jovh0s8jdo4os5ds20.jpg"/>
          <p:cNvPicPr/>
          <p:nvPr/>
        </p:nvPicPr>
        <p:blipFill>
          <a:blip r:embed="rId4"/>
          <a:srcRect l="0" t="27912" r="0" b="27912"/>
          <a:stretch/>
        </p:blipFill>
        <p:spPr>
          <a:xfrm>
            <a:off x="5654160" y="4935240"/>
            <a:ext cx="6509160" cy="1617120"/>
          </a:xfrm>
          <a:prstGeom prst="rect">
            <a:avLst/>
          </a:prstGeom>
          <a:ln>
            <a:noFill/>
          </a:ln>
        </p:spPr>
      </p:pic>
      <p:pic>
        <p:nvPicPr>
          <p:cNvPr id="137" name="Image 3" descr="https://kimi-img.moonshot.cn/pub/slides/slides_tmpl/image/25-10-09-18:34:32-d3jove0s8jdo4os5drqg.png"/>
          <p:cNvPicPr/>
          <p:nvPr/>
        </p:nvPicPr>
        <p:blipFill>
          <a:blip r:embed="rId5"/>
          <a:stretch/>
        </p:blipFill>
        <p:spPr>
          <a:xfrm>
            <a:off x="9860760" y="378000"/>
            <a:ext cx="1802880" cy="1394640"/>
          </a:xfrm>
          <a:prstGeom prst="rect">
            <a:avLst/>
          </a:prstGeom>
          <a:ln>
            <a:noFill/>
          </a:ln>
        </p:spPr>
      </p:pic>
      <p:sp>
        <p:nvSpPr>
          <p:cNvPr id="138" name="CustomShape 2"/>
          <p:cNvSpPr/>
          <p:nvPr/>
        </p:nvSpPr>
        <p:spPr>
          <a:xfrm>
            <a:off x="641160" y="1595520"/>
            <a:ext cx="9240840" cy="36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 algn="just">
              <a:lnSpc>
                <a:spcPct val="100000"/>
              </a:lnSpc>
            </a:pPr>
            <a:r>
              <a:rPr b="1" lang="en-US" sz="1800" spc="-1" strike="noStrike">
                <a:solidFill>
                  <a:srgbClr val="ffeb6d"/>
                </a:solidFill>
                <a:latin typeface="MiSans"/>
                <a:ea typeface="MiSans"/>
              </a:rPr>
              <a:t>Visión completa del negocio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9" name="CustomShape 3"/>
          <p:cNvSpPr/>
          <p:nvPr/>
        </p:nvSpPr>
        <p:spPr>
          <a:xfrm>
            <a:off x="662400" y="1808280"/>
            <a:ext cx="10888560" cy="731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5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MiSans"/>
                <a:ea typeface="MiSans"/>
              </a:rPr>
              <a:t>Los directores pueden ver en un solo lugar el estado de cada proyecto, ventas, stock disponible, avance de obra y otros datos clave, sin necesidad de múltiples sistemas.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0" name="CustomShape 4"/>
          <p:cNvSpPr/>
          <p:nvPr/>
        </p:nvSpPr>
        <p:spPr>
          <a:xfrm>
            <a:off x="641160" y="2665440"/>
            <a:ext cx="9936720" cy="36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 algn="just">
              <a:lnSpc>
                <a:spcPct val="100000"/>
              </a:lnSpc>
            </a:pPr>
            <a:r>
              <a:rPr b="1" lang="en-US" sz="1800" spc="-1" strike="noStrike">
                <a:solidFill>
                  <a:srgbClr val="ffeb6d"/>
                </a:solidFill>
                <a:latin typeface="MiSans"/>
                <a:ea typeface="MiSans"/>
              </a:rPr>
              <a:t>Consultas rápidas y directas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1" name="CustomShape 5"/>
          <p:cNvSpPr/>
          <p:nvPr/>
        </p:nvSpPr>
        <p:spPr>
          <a:xfrm>
            <a:off x="650880" y="2889000"/>
            <a:ext cx="10888560" cy="731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5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MiSans"/>
                <a:ea typeface="MiSans"/>
              </a:rPr>
              <a:t>Con preguntas simples, los directores obtienen información inmediata sobre ventas mensuales, rendimiento de agentes y estado de pagos, lo que facilita la toma de decisiones.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2" name="CustomShape 6"/>
          <p:cNvSpPr/>
          <p:nvPr/>
        </p:nvSpPr>
        <p:spPr>
          <a:xfrm>
            <a:off x="641160" y="3800160"/>
            <a:ext cx="9936720" cy="36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 algn="just">
              <a:lnSpc>
                <a:spcPct val="100000"/>
              </a:lnSpc>
            </a:pPr>
            <a:r>
              <a:rPr b="1" lang="en-US" sz="1800" spc="-1" strike="noStrike">
                <a:solidFill>
                  <a:srgbClr val="ffeb6d"/>
                </a:solidFill>
                <a:latin typeface="MiSans"/>
                <a:ea typeface="MiSans"/>
              </a:rPr>
              <a:t>Decisiones informadas y rápidas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3" name="CustomShape 7"/>
          <p:cNvSpPr/>
          <p:nvPr/>
        </p:nvSpPr>
        <p:spPr>
          <a:xfrm>
            <a:off x="650880" y="4058640"/>
            <a:ext cx="10888560" cy="731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5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MiSans"/>
                <a:ea typeface="MiSans"/>
              </a:rPr>
              <a:t>Al tener acceso a datos actualizados y relevantes, los directores pueden tomar decisiones más rápidas y mejor informadas, sin esperar reportes manuales.</a:t>
            </a:r>
            <a:endParaRPr b="0" lang="en-US" sz="1400" spc="-1" strike="noStrike">
              <a:latin typeface="Arial"/>
            </a:endParaRPr>
          </a:p>
        </p:txBody>
      </p:sp>
    </p:spTree>
  </p:cSld>
  <p:transition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CustomShape 1"/>
          <p:cNvSpPr/>
          <p:nvPr/>
        </p:nvSpPr>
        <p:spPr>
          <a:xfrm>
            <a:off x="3011040" y="1333080"/>
            <a:ext cx="1541520" cy="2925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9600" spc="-1" strike="noStrike">
                <a:solidFill>
                  <a:srgbClr val="ffffff"/>
                </a:solidFill>
                <a:latin typeface="MiSans"/>
                <a:ea typeface="MiSans"/>
              </a:rPr>
              <a:t>04</a:t>
            </a:r>
            <a:endParaRPr b="0" lang="en-US" sz="9600" spc="-1" strike="noStrike">
              <a:latin typeface="Arial"/>
            </a:endParaRPr>
          </a:p>
        </p:txBody>
      </p:sp>
      <p:sp>
        <p:nvSpPr>
          <p:cNvPr id="145" name="CustomShape 2"/>
          <p:cNvSpPr/>
          <p:nvPr/>
        </p:nvSpPr>
        <p:spPr>
          <a:xfrm>
            <a:off x="1482480" y="3918960"/>
            <a:ext cx="4599000" cy="121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4000" spc="-1" strike="noStrike">
                <a:solidFill>
                  <a:srgbClr val="ffffff"/>
                </a:solidFill>
                <a:latin typeface="MiSans"/>
                <a:ea typeface="MiSans"/>
              </a:rPr>
              <a:t>Día típico con Vertice360</a:t>
            </a:r>
            <a:endParaRPr b="0" lang="en-US" sz="4000" spc="-1" strike="noStrike">
              <a:latin typeface="Arial"/>
            </a:endParaRPr>
          </a:p>
        </p:txBody>
      </p:sp>
      <p:pic>
        <p:nvPicPr>
          <p:cNvPr id="146" name="Image 0" descr="https://kimi-img.moonshot.cn/pub/slides/slides_tmpl/image/25-10-09-18:34:36-d3jovf0s8jdo4os5dru0.png"/>
          <p:cNvPicPr/>
          <p:nvPr/>
        </p:nvPicPr>
        <p:blipFill>
          <a:blip r:embed="rId2"/>
          <a:stretch/>
        </p:blipFill>
        <p:spPr>
          <a:xfrm>
            <a:off x="6743880" y="1768320"/>
            <a:ext cx="4562280" cy="4204440"/>
          </a:xfrm>
          <a:prstGeom prst="rect">
            <a:avLst/>
          </a:prstGeom>
          <a:ln>
            <a:noFill/>
          </a:ln>
        </p:spPr>
      </p:pic>
      <p:pic>
        <p:nvPicPr>
          <p:cNvPr id="147" name="Image 1" descr="https://kimi-img.moonshot.cn/pub/slides/slides_tmpl/image/25-10-09-18:34:26-d3jovcgs8jdo4os5drn0.png"/>
          <p:cNvPicPr/>
          <p:nvPr/>
        </p:nvPicPr>
        <p:blipFill>
          <a:blip r:embed="rId3"/>
          <a:srcRect l="38333" t="0" r="38333" b="0"/>
          <a:stretch/>
        </p:blipFill>
        <p:spPr>
          <a:xfrm>
            <a:off x="2655000" y="3534480"/>
            <a:ext cx="2382840" cy="195120"/>
          </a:xfrm>
          <a:prstGeom prst="rect">
            <a:avLst/>
          </a:prstGeom>
          <a:ln>
            <a:noFill/>
          </a:ln>
        </p:spPr>
      </p:pic>
      <p:pic>
        <p:nvPicPr>
          <p:cNvPr id="148" name="Image 2" descr="https://kimi-img.moonshot.cn/pub/slides/slides_tmpl/image/25-10-09-18:34:33-d3jove8s8jdo4os5drrg.png"/>
          <p:cNvPicPr/>
          <p:nvPr/>
        </p:nvPicPr>
        <p:blipFill>
          <a:blip r:embed="rId4"/>
          <a:stretch/>
        </p:blipFill>
        <p:spPr>
          <a:xfrm>
            <a:off x="864720" y="586080"/>
            <a:ext cx="1789560" cy="1789560"/>
          </a:xfrm>
          <a:prstGeom prst="rect">
            <a:avLst/>
          </a:prstGeom>
          <a:ln>
            <a:noFill/>
          </a:ln>
        </p:spPr>
      </p:pic>
    </p:spTree>
  </p:cSld>
  <p:transition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CustomShape 1"/>
          <p:cNvSpPr/>
          <p:nvPr/>
        </p:nvSpPr>
        <p:spPr>
          <a:xfrm>
            <a:off x="510480" y="982080"/>
            <a:ext cx="5173560" cy="1067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00000"/>
              </a:lnSpc>
            </a:pPr>
            <a:r>
              <a:rPr b="0" lang="en-US" sz="3200" spc="-1" strike="noStrike">
                <a:solidFill>
                  <a:srgbClr val="ffffff"/>
                </a:solidFill>
                <a:latin typeface="MiSans"/>
                <a:ea typeface="MiSans"/>
              </a:rPr>
              <a:t>Flujo cotidiano sin fricción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150" name="Image 0" descr="https://kimi-img.moonshot.cn/pub/slides/slides_tmpl/image/25-10-09-18:34:43-d3jovgos8jdo4os5ds10.jpg"/>
          <p:cNvPicPr/>
          <p:nvPr/>
        </p:nvPicPr>
        <p:blipFill>
          <a:blip r:embed="rId2"/>
          <a:srcRect l="30350" t="18182" r="13746" b="26"/>
          <a:stretch/>
        </p:blipFill>
        <p:spPr>
          <a:xfrm>
            <a:off x="6081120" y="4114800"/>
            <a:ext cx="2073600" cy="2260800"/>
          </a:xfrm>
          <a:prstGeom prst="rect">
            <a:avLst/>
          </a:prstGeom>
          <a:ln>
            <a:noFill/>
          </a:ln>
        </p:spPr>
      </p:pic>
      <p:pic>
        <p:nvPicPr>
          <p:cNvPr id="151" name="Image 1" descr="https://kimi-img.moonshot.cn/pub/slides/slides_tmpl/image/25-10-09-18:34:44-d3jovh0s8jdo4os5ds20.jpg"/>
          <p:cNvPicPr/>
          <p:nvPr/>
        </p:nvPicPr>
        <p:blipFill>
          <a:blip r:embed="rId3"/>
          <a:srcRect l="15262" t="0" r="40400" b="0"/>
          <a:stretch/>
        </p:blipFill>
        <p:spPr>
          <a:xfrm>
            <a:off x="3944880" y="3745080"/>
            <a:ext cx="2073600" cy="2630520"/>
          </a:xfrm>
          <a:prstGeom prst="rect">
            <a:avLst/>
          </a:prstGeom>
          <a:ln>
            <a:noFill/>
          </a:ln>
        </p:spPr>
      </p:pic>
      <p:pic>
        <p:nvPicPr>
          <p:cNvPr id="152" name="Image 2" descr="https://kimi-img.moonshot.cn/pub/slides/slides_tmpl/image/25-10-09-18:35:01-d3jovl8s8jdo4os5dsg0.jpg"/>
          <p:cNvPicPr/>
          <p:nvPr/>
        </p:nvPicPr>
        <p:blipFill>
          <a:blip r:embed="rId4"/>
          <a:srcRect l="5381" t="0" r="5381" b="0"/>
          <a:stretch/>
        </p:blipFill>
        <p:spPr>
          <a:xfrm>
            <a:off x="6081120" y="905040"/>
            <a:ext cx="2073600" cy="3097800"/>
          </a:xfrm>
          <a:prstGeom prst="rect">
            <a:avLst/>
          </a:prstGeom>
          <a:ln>
            <a:noFill/>
          </a:ln>
        </p:spPr>
      </p:pic>
      <p:pic>
        <p:nvPicPr>
          <p:cNvPr id="153" name="Image 3" descr="https://kimi-img.moonshot.cn/pub/slides/slides_tmpl/image/25-10-09-18:35:01-d3jovl8s8jdo4os5dsgg.png"/>
          <p:cNvPicPr/>
          <p:nvPr/>
        </p:nvPicPr>
        <p:blipFill>
          <a:blip r:embed="rId5"/>
          <a:stretch/>
        </p:blipFill>
        <p:spPr>
          <a:xfrm>
            <a:off x="9570240" y="598320"/>
            <a:ext cx="905040" cy="688680"/>
          </a:xfrm>
          <a:prstGeom prst="rect">
            <a:avLst/>
          </a:prstGeom>
          <a:ln>
            <a:noFill/>
          </a:ln>
        </p:spPr>
      </p:pic>
      <p:sp>
        <p:nvSpPr>
          <p:cNvPr id="154" name="CustomShape 2"/>
          <p:cNvSpPr/>
          <p:nvPr/>
        </p:nvSpPr>
        <p:spPr>
          <a:xfrm>
            <a:off x="524160" y="2177280"/>
            <a:ext cx="5252040" cy="36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ffeb6d"/>
                </a:solidFill>
                <a:latin typeface="MiSans"/>
                <a:ea typeface="MiSans"/>
              </a:rPr>
              <a:t>Llegada de un nuevo lead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55" name="CustomShape 3"/>
          <p:cNvSpPr/>
          <p:nvPr/>
        </p:nvSpPr>
        <p:spPr>
          <a:xfrm>
            <a:off x="510120" y="2526840"/>
            <a:ext cx="5265720" cy="731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 algn="just"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MiSans"/>
                <a:ea typeface="MiSans"/>
              </a:rPr>
              <a:t>Un lead llega a través de una campaña, y Vertice360 lo califica automáticamente, asignándolo al vendedor indicado con una ficha ya ordenada y lista para trabajar.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56" name="CustomShape 4"/>
          <p:cNvSpPr/>
          <p:nvPr/>
        </p:nvSpPr>
        <p:spPr>
          <a:xfrm>
            <a:off x="452520" y="3774600"/>
            <a:ext cx="3336480" cy="639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r">
              <a:lnSpc>
                <a:spcPct val="100000"/>
              </a:lnSpc>
            </a:pPr>
            <a:r>
              <a:rPr b="1" lang="en-US" sz="1800" spc="-1" strike="noStrike">
                <a:solidFill>
                  <a:srgbClr val="ffeb6d"/>
                </a:solidFill>
                <a:latin typeface="MiSans"/>
                <a:ea typeface="MiSans"/>
              </a:rPr>
              <a:t>Propuesta rápida al cliente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57" name="CustomShape 5"/>
          <p:cNvSpPr/>
          <p:nvPr/>
        </p:nvSpPr>
        <p:spPr>
          <a:xfrm>
            <a:off x="464400" y="4309200"/>
            <a:ext cx="3284280" cy="115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 algn="just"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MiSans"/>
                <a:ea typeface="MiSans"/>
              </a:rPr>
              <a:t>El vendedor consulta unidades y formas de pago en Vertice360, armando una propuesta en minutos y manteniendo una conversación fluida y efectiva.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58" name="CustomShape 6"/>
          <p:cNvSpPr/>
          <p:nvPr/>
        </p:nvSpPr>
        <p:spPr>
          <a:xfrm>
            <a:off x="8268480" y="1480320"/>
            <a:ext cx="3835080" cy="639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00000"/>
              </a:lnSpc>
            </a:pPr>
            <a:r>
              <a:rPr b="1" lang="en-US" sz="1800" spc="-1" strike="noStrike">
                <a:solidFill>
                  <a:srgbClr val="ffeb6d"/>
                </a:solidFill>
                <a:latin typeface="MiSans"/>
                <a:ea typeface="MiSans"/>
              </a:rPr>
              <a:t>Acceso del inversor a información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59" name="CustomShape 7"/>
          <p:cNvSpPr/>
          <p:nvPr/>
        </p:nvSpPr>
        <p:spPr>
          <a:xfrm>
            <a:off x="8279640" y="1998360"/>
            <a:ext cx="3272400" cy="1157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 algn="just"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MiSans"/>
                <a:ea typeface="MiSans"/>
              </a:rPr>
              <a:t>El inversor reserva y compra, y desde ese momento tiene acceso a un portal donde puede consultar todo lo que necesita sobre el avance de su inversión.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60" name="CustomShape 8"/>
          <p:cNvSpPr/>
          <p:nvPr/>
        </p:nvSpPr>
        <p:spPr>
          <a:xfrm>
            <a:off x="8270280" y="3774600"/>
            <a:ext cx="3835080" cy="639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 algn="just">
              <a:lnSpc>
                <a:spcPct val="100000"/>
              </a:lnSpc>
            </a:pPr>
            <a:r>
              <a:rPr b="1" lang="en-US" sz="1800" spc="-1" strike="noStrike">
                <a:solidFill>
                  <a:srgbClr val="ffeb6d"/>
                </a:solidFill>
                <a:latin typeface="MiSans"/>
                <a:ea typeface="MiSans"/>
              </a:rPr>
              <a:t>Revisión semanal de la dirección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61" name="CustomShape 9"/>
          <p:cNvSpPr/>
          <p:nvPr/>
        </p:nvSpPr>
        <p:spPr>
          <a:xfrm>
            <a:off x="8279640" y="4309200"/>
            <a:ext cx="3272400" cy="1370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 algn="just"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MiSans"/>
                <a:ea typeface="MiSans"/>
              </a:rPr>
              <a:t>La dirección revisa la semana consultando a Vertice360, obteniendo una foto clara de ventas, stock y avance de obra en lugar de revisar múltiples sistemas.</a:t>
            </a:r>
            <a:endParaRPr b="0" lang="en-US" sz="1400" spc="-1" strike="noStrike">
              <a:latin typeface="Arial"/>
            </a:endParaRPr>
          </a:p>
        </p:txBody>
      </p:sp>
    </p:spTree>
  </p:cSld>
  <p:transition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CustomShape 1"/>
          <p:cNvSpPr/>
          <p:nvPr/>
        </p:nvSpPr>
        <p:spPr>
          <a:xfrm>
            <a:off x="3011040" y="1333080"/>
            <a:ext cx="1541520" cy="2925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9600" spc="-1" strike="noStrike">
                <a:solidFill>
                  <a:srgbClr val="ffffff"/>
                </a:solidFill>
                <a:latin typeface="MiSans"/>
                <a:ea typeface="MiSans"/>
              </a:rPr>
              <a:t>05</a:t>
            </a:r>
            <a:endParaRPr b="0" lang="en-US" sz="9600" spc="-1" strike="noStrike">
              <a:latin typeface="Arial"/>
            </a:endParaRPr>
          </a:p>
        </p:txBody>
      </p:sp>
      <p:sp>
        <p:nvSpPr>
          <p:cNvPr id="163" name="CustomShape 2"/>
          <p:cNvSpPr/>
          <p:nvPr/>
        </p:nvSpPr>
        <p:spPr>
          <a:xfrm>
            <a:off x="1482480" y="3918960"/>
            <a:ext cx="4599000" cy="1219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4000" spc="-1" strike="noStrike">
                <a:solidFill>
                  <a:srgbClr val="ffffff"/>
                </a:solidFill>
                <a:latin typeface="MiSans"/>
                <a:ea typeface="MiSans"/>
              </a:rPr>
              <a:t>Beneficios medibles</a:t>
            </a:r>
            <a:endParaRPr b="0" lang="en-US" sz="4000" spc="-1" strike="noStrike">
              <a:latin typeface="Arial"/>
            </a:endParaRPr>
          </a:p>
        </p:txBody>
      </p:sp>
      <p:pic>
        <p:nvPicPr>
          <p:cNvPr id="164" name="Image 0" descr="https://kimi-img.moonshot.cn/pub/slides/slides_tmpl/image/25-10-09-18:34:36-d3jovf0s8jdo4os5dru0.png"/>
          <p:cNvPicPr/>
          <p:nvPr/>
        </p:nvPicPr>
        <p:blipFill>
          <a:blip r:embed="rId2"/>
          <a:stretch/>
        </p:blipFill>
        <p:spPr>
          <a:xfrm>
            <a:off x="6743880" y="1768320"/>
            <a:ext cx="4562280" cy="4204440"/>
          </a:xfrm>
          <a:prstGeom prst="rect">
            <a:avLst/>
          </a:prstGeom>
          <a:ln>
            <a:noFill/>
          </a:ln>
        </p:spPr>
      </p:pic>
      <p:pic>
        <p:nvPicPr>
          <p:cNvPr id="165" name="Image 1" descr="https://kimi-img.moonshot.cn/pub/slides/slides_tmpl/image/25-10-09-18:34:26-d3jovcgs8jdo4os5drn0.png"/>
          <p:cNvPicPr/>
          <p:nvPr/>
        </p:nvPicPr>
        <p:blipFill>
          <a:blip r:embed="rId3"/>
          <a:srcRect l="38333" t="0" r="38333" b="0"/>
          <a:stretch/>
        </p:blipFill>
        <p:spPr>
          <a:xfrm>
            <a:off x="2655000" y="3534480"/>
            <a:ext cx="2382840" cy="195120"/>
          </a:xfrm>
          <a:prstGeom prst="rect">
            <a:avLst/>
          </a:prstGeom>
          <a:ln>
            <a:noFill/>
          </a:ln>
        </p:spPr>
      </p:pic>
      <p:pic>
        <p:nvPicPr>
          <p:cNvPr id="166" name="Image 2" descr="https://kimi-img.moonshot.cn/pub/slides/slides_tmpl/image/25-10-09-18:34:33-d3jove8s8jdo4os5drrg.png"/>
          <p:cNvPicPr/>
          <p:nvPr/>
        </p:nvPicPr>
        <p:blipFill>
          <a:blip r:embed="rId4"/>
          <a:stretch/>
        </p:blipFill>
        <p:spPr>
          <a:xfrm>
            <a:off x="864720" y="586080"/>
            <a:ext cx="1789560" cy="1789560"/>
          </a:xfrm>
          <a:prstGeom prst="rect">
            <a:avLst/>
          </a:prstGeom>
          <a:ln>
            <a:noFill/>
          </a:ln>
        </p:spPr>
      </p:pic>
    </p:spTree>
  </p:cSld>
  <p:transition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CustomShape 1"/>
          <p:cNvSpPr/>
          <p:nvPr/>
        </p:nvSpPr>
        <p:spPr>
          <a:xfrm>
            <a:off x="654840" y="694800"/>
            <a:ext cx="4902480" cy="1380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just">
              <a:lnSpc>
                <a:spcPct val="100000"/>
              </a:lnSpc>
            </a:pPr>
            <a:r>
              <a:rPr b="0" lang="en-US" sz="3200" spc="-1" strike="noStrike">
                <a:solidFill>
                  <a:srgbClr val="ffffff"/>
                </a:solidFill>
                <a:latin typeface="MiSans"/>
                <a:ea typeface="MiSans"/>
              </a:rPr>
              <a:t>Más ventas y menos operativo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168" name="Image 0" descr="https://kimi-img.moonshot.cn/pub/slides/slides_tmpl/image/25-10-09-18:34:55-d3jovjos8jdo4os5dsbg.jpg"/>
          <p:cNvPicPr/>
          <p:nvPr/>
        </p:nvPicPr>
        <p:blipFill>
          <a:blip r:embed="rId2"/>
          <a:srcRect l="16691" t="0" r="16691" b="0"/>
          <a:stretch/>
        </p:blipFill>
        <p:spPr>
          <a:xfrm>
            <a:off x="6346800" y="10800"/>
            <a:ext cx="5145120" cy="4343760"/>
          </a:xfrm>
          <a:prstGeom prst="rect">
            <a:avLst/>
          </a:prstGeom>
          <a:ln>
            <a:noFill/>
          </a:ln>
        </p:spPr>
      </p:pic>
      <p:pic>
        <p:nvPicPr>
          <p:cNvPr id="169" name="Image 1" descr="https://kimi-img.moonshot.cn/pub/slides/slides_tmpl/image/25-10-09-18:34:51-d3jovios8jdo4os5ds5g.jpg"/>
          <p:cNvPicPr/>
          <p:nvPr/>
        </p:nvPicPr>
        <p:blipFill>
          <a:blip r:embed="rId3"/>
          <a:srcRect l="0" t="20909" r="0" b="20909"/>
          <a:stretch/>
        </p:blipFill>
        <p:spPr>
          <a:xfrm>
            <a:off x="816840" y="2276280"/>
            <a:ext cx="4769280" cy="2081160"/>
          </a:xfrm>
          <a:prstGeom prst="rect">
            <a:avLst/>
          </a:prstGeom>
          <a:ln>
            <a:noFill/>
          </a:ln>
        </p:spPr>
      </p:pic>
      <p:pic>
        <p:nvPicPr>
          <p:cNvPr id="170" name="Image 2" descr="https://kimi-img.moonshot.cn/pub/slides/slides_tmpl/image/25-10-09-18:34:26-d3jovcgs8jdo4os5drn0.png"/>
          <p:cNvPicPr/>
          <p:nvPr/>
        </p:nvPicPr>
        <p:blipFill>
          <a:blip r:embed="rId4"/>
          <a:srcRect l="49325" t="0" r="49325" b="0"/>
          <a:stretch/>
        </p:blipFill>
        <p:spPr>
          <a:xfrm>
            <a:off x="-1440" y="684360"/>
            <a:ext cx="269640" cy="5491800"/>
          </a:xfrm>
          <a:prstGeom prst="rect">
            <a:avLst/>
          </a:prstGeom>
          <a:ln>
            <a:noFill/>
          </a:ln>
        </p:spPr>
      </p:pic>
      <p:sp>
        <p:nvSpPr>
          <p:cNvPr id="171" name="CustomShape 2"/>
          <p:cNvSpPr/>
          <p:nvPr/>
        </p:nvSpPr>
        <p:spPr>
          <a:xfrm>
            <a:off x="713880" y="4526280"/>
            <a:ext cx="9314640" cy="36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 algn="just">
              <a:lnSpc>
                <a:spcPct val="100000"/>
              </a:lnSpc>
            </a:pPr>
            <a:r>
              <a:rPr b="1" lang="en-US" sz="1800" spc="-1" strike="noStrike">
                <a:solidFill>
                  <a:srgbClr val="ffeb6d"/>
                </a:solidFill>
                <a:latin typeface="MiSans"/>
                <a:ea typeface="MiSans"/>
              </a:rPr>
              <a:t>Aumento en las ventas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72" name="CustomShape 3"/>
          <p:cNvSpPr/>
          <p:nvPr/>
        </p:nvSpPr>
        <p:spPr>
          <a:xfrm>
            <a:off x="713880" y="4853880"/>
            <a:ext cx="10778040" cy="51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 algn="just"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MiSans"/>
                <a:ea typeface="MiSans"/>
              </a:rPr>
              <a:t>La capacidad de responder rápidamente y de manera efectiva a las consultas de los clientes aumenta significativamente la tasa de conversión de leads en ventas, mejorando el rendimiento comercial.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73" name="CustomShape 4"/>
          <p:cNvSpPr/>
          <p:nvPr/>
        </p:nvSpPr>
        <p:spPr>
          <a:xfrm>
            <a:off x="700200" y="5585400"/>
            <a:ext cx="9314640" cy="36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 algn="just">
              <a:lnSpc>
                <a:spcPct val="100000"/>
              </a:lnSpc>
            </a:pPr>
            <a:r>
              <a:rPr b="1" lang="en-US" sz="1800" spc="-1" strike="noStrike">
                <a:solidFill>
                  <a:srgbClr val="ffeb6d"/>
                </a:solidFill>
                <a:latin typeface="MiSans"/>
                <a:ea typeface="MiSans"/>
              </a:rPr>
              <a:t>Reducción del trabajo operativo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74" name="CustomShape 5"/>
          <p:cNvSpPr/>
          <p:nvPr/>
        </p:nvSpPr>
        <p:spPr>
          <a:xfrm>
            <a:off x="700560" y="5913000"/>
            <a:ext cx="10792080" cy="51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 algn="just"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MiSans"/>
                <a:ea typeface="MiSans"/>
              </a:rPr>
              <a:t>Al automatizar y centralizar la gestión de información, Vertice360 reduce el tiempo dedicado a tareas administrativas, permitiendo que el equipo se enfoque en cerrar más ventas.</a:t>
            </a:r>
            <a:endParaRPr b="0" lang="en-US" sz="1400" spc="-1" strike="noStrike">
              <a:latin typeface="Arial"/>
            </a:endParaRPr>
          </a:p>
        </p:txBody>
      </p:sp>
    </p:spTree>
  </p:cSld>
  <p:transition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CustomShape 1"/>
          <p:cNvSpPr/>
          <p:nvPr/>
        </p:nvSpPr>
        <p:spPr>
          <a:xfrm>
            <a:off x="3011040" y="1333080"/>
            <a:ext cx="1541520" cy="2925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9600" spc="-1" strike="noStrike">
                <a:solidFill>
                  <a:srgbClr val="ffffff"/>
                </a:solidFill>
                <a:latin typeface="MiSans"/>
                <a:ea typeface="MiSans"/>
              </a:rPr>
              <a:t>06</a:t>
            </a:r>
            <a:endParaRPr b="0" lang="en-US" sz="9600" spc="-1" strike="noStrike">
              <a:latin typeface="Arial"/>
            </a:endParaRPr>
          </a:p>
        </p:txBody>
      </p:sp>
      <p:sp>
        <p:nvSpPr>
          <p:cNvPr id="176" name="CustomShape 2"/>
          <p:cNvSpPr/>
          <p:nvPr/>
        </p:nvSpPr>
        <p:spPr>
          <a:xfrm>
            <a:off x="1482480" y="4223880"/>
            <a:ext cx="4599000" cy="610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</a:pPr>
            <a:r>
              <a:rPr b="0" lang="en-US" sz="4000" spc="-1" strike="noStrike">
                <a:solidFill>
                  <a:srgbClr val="ffffff"/>
                </a:solidFill>
                <a:latin typeface="MiSans"/>
                <a:ea typeface="MiSans"/>
              </a:rPr>
              <a:t>Próximo paso</a:t>
            </a:r>
            <a:endParaRPr b="0" lang="en-US" sz="4000" spc="-1" strike="noStrike">
              <a:latin typeface="Arial"/>
            </a:endParaRPr>
          </a:p>
        </p:txBody>
      </p:sp>
      <p:pic>
        <p:nvPicPr>
          <p:cNvPr id="177" name="Image 0" descr="https://kimi-img.moonshot.cn/pub/slides/slides_tmpl/image/25-10-09-18:34:36-d3jovf0s8jdo4os5dru0.png"/>
          <p:cNvPicPr/>
          <p:nvPr/>
        </p:nvPicPr>
        <p:blipFill>
          <a:blip r:embed="rId2"/>
          <a:stretch/>
        </p:blipFill>
        <p:spPr>
          <a:xfrm>
            <a:off x="6743880" y="1768320"/>
            <a:ext cx="4562280" cy="4204440"/>
          </a:xfrm>
          <a:prstGeom prst="rect">
            <a:avLst/>
          </a:prstGeom>
          <a:ln>
            <a:noFill/>
          </a:ln>
        </p:spPr>
      </p:pic>
      <p:pic>
        <p:nvPicPr>
          <p:cNvPr id="178" name="Image 1" descr="https://kimi-img.moonshot.cn/pub/slides/slides_tmpl/image/25-10-09-18:34:26-d3jovcgs8jdo4os5drn0.png"/>
          <p:cNvPicPr/>
          <p:nvPr/>
        </p:nvPicPr>
        <p:blipFill>
          <a:blip r:embed="rId3"/>
          <a:srcRect l="38333" t="0" r="38333" b="0"/>
          <a:stretch/>
        </p:blipFill>
        <p:spPr>
          <a:xfrm>
            <a:off x="2655000" y="3534480"/>
            <a:ext cx="2382840" cy="195120"/>
          </a:xfrm>
          <a:prstGeom prst="rect">
            <a:avLst/>
          </a:prstGeom>
          <a:ln>
            <a:noFill/>
          </a:ln>
        </p:spPr>
      </p:pic>
      <p:pic>
        <p:nvPicPr>
          <p:cNvPr id="179" name="Image 2" descr="https://kimi-img.moonshot.cn/pub/slides/slides_tmpl/image/25-10-09-18:34:33-d3jove8s8jdo4os5drrg.png"/>
          <p:cNvPicPr/>
          <p:nvPr/>
        </p:nvPicPr>
        <p:blipFill>
          <a:blip r:embed="rId4"/>
          <a:stretch/>
        </p:blipFill>
        <p:spPr>
          <a:xfrm>
            <a:off x="864720" y="586080"/>
            <a:ext cx="1789560" cy="1789560"/>
          </a:xfrm>
          <a:prstGeom prst="rect">
            <a:avLst/>
          </a:prstGeom>
          <a:ln>
            <a:noFill/>
          </a:ln>
        </p:spPr>
      </p:pic>
    </p:spTree>
  </p:cSld>
  <p:transition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Image 0" descr="https://kimi-img.moonshot.cn/pub/slides/slides_tmpl/image/25-10-09-18:34:26-d3jovcgs8jdo4os5drn0.png"/>
          <p:cNvPicPr/>
          <p:nvPr/>
        </p:nvPicPr>
        <p:blipFill>
          <a:blip r:embed="rId2"/>
          <a:srcRect l="19138" t="0" r="19138" b="0"/>
          <a:stretch/>
        </p:blipFill>
        <p:spPr>
          <a:xfrm>
            <a:off x="4489920" y="322560"/>
            <a:ext cx="7702200" cy="3416400"/>
          </a:xfrm>
          <a:prstGeom prst="rect">
            <a:avLst/>
          </a:prstGeom>
          <a:ln>
            <a:noFill/>
          </a:ln>
        </p:spPr>
      </p:pic>
      <p:pic>
        <p:nvPicPr>
          <p:cNvPr id="181" name="Image 1" descr="https://kimi-img.moonshot.cn/pub/slides/slides_tmpl/image/25-10-09-18:34:48-d3jovi0s8jdo4os5ds4g.jpg"/>
          <p:cNvPicPr/>
          <p:nvPr/>
        </p:nvPicPr>
        <p:blipFill>
          <a:blip r:embed="rId3"/>
          <a:srcRect l="22146" t="16753" r="7553" b="1790"/>
          <a:stretch/>
        </p:blipFill>
        <p:spPr>
          <a:xfrm>
            <a:off x="300960" y="322560"/>
            <a:ext cx="4055400" cy="6293160"/>
          </a:xfrm>
          <a:prstGeom prst="rect">
            <a:avLst/>
          </a:prstGeom>
          <a:ln>
            <a:noFill/>
          </a:ln>
        </p:spPr>
      </p:pic>
      <p:sp>
        <p:nvSpPr>
          <p:cNvPr id="182" name="CustomShape 1"/>
          <p:cNvSpPr/>
          <p:nvPr/>
        </p:nvSpPr>
        <p:spPr>
          <a:xfrm>
            <a:off x="4664880" y="671040"/>
            <a:ext cx="6898320" cy="829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just">
              <a:lnSpc>
                <a:spcPct val="100000"/>
              </a:lnSpc>
            </a:pPr>
            <a:r>
              <a:rPr b="0" lang="en-US" sz="3200" spc="-1" strike="noStrike">
                <a:solidFill>
                  <a:srgbClr val="000000"/>
                </a:solidFill>
                <a:latin typeface="MiSans"/>
                <a:ea typeface="MiSans"/>
              </a:rPr>
              <a:t>Invitación a demo personalizada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183" name="Image 2" descr="https://kimi-img.moonshot.cn/pub/slides/slides_tmpl/image/25-10-09-18:34:52-d3jovj0s8jdo4os5ds70.jpg"/>
          <p:cNvPicPr/>
          <p:nvPr/>
        </p:nvPicPr>
        <p:blipFill>
          <a:blip r:embed="rId4"/>
          <a:srcRect l="0" t="26027" r="0" b="26027"/>
          <a:stretch/>
        </p:blipFill>
        <p:spPr>
          <a:xfrm>
            <a:off x="4489920" y="4001760"/>
            <a:ext cx="4055400" cy="2593080"/>
          </a:xfrm>
          <a:prstGeom prst="rect">
            <a:avLst/>
          </a:prstGeom>
          <a:ln>
            <a:noFill/>
          </a:ln>
        </p:spPr>
      </p:pic>
      <p:pic>
        <p:nvPicPr>
          <p:cNvPr id="184" name="Image 3" descr="https://kimi-img.moonshot.cn/pub/slides/slides_tmpl/image/25-10-09-18:34:50-d3jovigs8jdo4os5ds50.png"/>
          <p:cNvPicPr/>
          <p:nvPr/>
        </p:nvPicPr>
        <p:blipFill>
          <a:blip r:embed="rId5"/>
          <a:stretch/>
        </p:blipFill>
        <p:spPr>
          <a:xfrm>
            <a:off x="8933760" y="4030200"/>
            <a:ext cx="3032280" cy="2579040"/>
          </a:xfrm>
          <a:prstGeom prst="rect">
            <a:avLst/>
          </a:prstGeom>
          <a:ln>
            <a:noFill/>
          </a:ln>
        </p:spPr>
      </p:pic>
      <p:sp>
        <p:nvSpPr>
          <p:cNvPr id="185" name="CustomShape 2"/>
          <p:cNvSpPr/>
          <p:nvPr/>
        </p:nvSpPr>
        <p:spPr>
          <a:xfrm>
            <a:off x="4721760" y="2093400"/>
            <a:ext cx="6579000" cy="36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MiSans"/>
                <a:ea typeface="MiSans"/>
              </a:rPr>
              <a:t>Demostración en vivo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86" name="CustomShape 3"/>
          <p:cNvSpPr/>
          <p:nvPr/>
        </p:nvSpPr>
        <p:spPr>
          <a:xfrm>
            <a:off x="4721760" y="2428920"/>
            <a:ext cx="7162560" cy="1050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 algn="just">
              <a:lnSpc>
                <a:spcPct val="15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MiSans"/>
                <a:ea typeface="MiSans"/>
              </a:rPr>
              <a:t>En una demostración personalizada de solo diez minutos, veremos cómo Vertice360 puede transformar tu negocio en pozo, utilizando tus proyectos reales para mostrar su impacto inmediato en ventas, clientes y dirección.</a:t>
            </a:r>
            <a:endParaRPr b="0" lang="en-US" sz="1400" spc="-1" strike="noStrike">
              <a:latin typeface="Arial"/>
            </a:endParaRPr>
          </a:p>
        </p:txBody>
      </p:sp>
    </p:spTree>
  </p:cSld>
  <p:transition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CustomShape 1"/>
          <p:cNvSpPr/>
          <p:nvPr/>
        </p:nvSpPr>
        <p:spPr>
          <a:xfrm>
            <a:off x="763200" y="1127880"/>
            <a:ext cx="6830280" cy="1378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noAutofit/>
          </a:bodyPr>
          <a:p>
            <a:pPr>
              <a:lnSpc>
                <a:spcPct val="100000"/>
              </a:lnSpc>
            </a:pPr>
            <a:r>
              <a:rPr b="0" lang="en-US" sz="8800" spc="-1" strike="noStrike">
                <a:solidFill>
                  <a:srgbClr val="ffffff"/>
                </a:solidFill>
                <a:latin typeface="MiSans"/>
                <a:ea typeface="MiSans"/>
              </a:rPr>
              <a:t>Thank You</a:t>
            </a:r>
            <a:endParaRPr b="0" lang="en-US" sz="8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MiSans"/>
                <a:ea typeface="MiSans"/>
              </a:rPr>
              <a:t> 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88" name="Image 0" descr="https://kimi-img.moonshot.cn/pub/slides/slides_tmpl/image/25-10-09-18:34:26-d3jovcgs8jdo4os5drn0.png"/>
          <p:cNvPicPr/>
          <p:nvPr/>
        </p:nvPicPr>
        <p:blipFill>
          <a:blip r:embed="rId2"/>
          <a:srcRect l="1553" t="36786" r="2678" b="36457"/>
          <a:stretch/>
        </p:blipFill>
        <p:spPr>
          <a:xfrm>
            <a:off x="993240" y="3074760"/>
            <a:ext cx="4088880" cy="197640"/>
          </a:xfrm>
          <a:prstGeom prst="rect">
            <a:avLst/>
          </a:prstGeom>
          <a:ln>
            <a:noFill/>
          </a:ln>
        </p:spPr>
      </p:pic>
      <p:sp>
        <p:nvSpPr>
          <p:cNvPr id="189" name="CustomShape 2"/>
          <p:cNvSpPr/>
          <p:nvPr/>
        </p:nvSpPr>
        <p:spPr>
          <a:xfrm>
            <a:off x="910080" y="2439000"/>
            <a:ext cx="4432680" cy="922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90" name="Image 1" descr="https://kimi-img.moonshot.cn/pub/slides/slides_tmpl/image/25-10-09-18:34:26-d3jovcgs8jdo4os5drn0.png"/>
          <p:cNvPicPr/>
          <p:nvPr/>
        </p:nvPicPr>
        <p:blipFill>
          <a:blip r:embed="rId3"/>
          <a:stretch/>
        </p:blipFill>
        <p:spPr>
          <a:xfrm>
            <a:off x="3065760" y="5283360"/>
            <a:ext cx="2515680" cy="527400"/>
          </a:xfrm>
          <a:prstGeom prst="rect">
            <a:avLst/>
          </a:prstGeom>
          <a:ln>
            <a:noFill/>
          </a:ln>
        </p:spPr>
      </p:pic>
      <p:sp>
        <p:nvSpPr>
          <p:cNvPr id="191" name="CustomShape 3"/>
          <p:cNvSpPr/>
          <p:nvPr/>
        </p:nvSpPr>
        <p:spPr>
          <a:xfrm>
            <a:off x="3065760" y="5376600"/>
            <a:ext cx="2515680" cy="36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MiSans"/>
                <a:ea typeface="MiSans"/>
              </a:rPr>
              <a:t>2025/11/20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192" name="Image 3" descr="https://kimi-img.moonshot.cn/pub/slides/slides_tmpl/image/25-10-09-18:35:03-d3jovlos8jdo4os5dsi0.png"/>
          <p:cNvPicPr/>
          <p:nvPr/>
        </p:nvPicPr>
        <p:blipFill>
          <a:blip r:embed="rId4"/>
          <a:stretch/>
        </p:blipFill>
        <p:spPr>
          <a:xfrm>
            <a:off x="5788080" y="845280"/>
            <a:ext cx="5886720" cy="5605560"/>
          </a:xfrm>
          <a:prstGeom prst="rect">
            <a:avLst/>
          </a:prstGeom>
          <a:ln>
            <a:noFill/>
          </a:ln>
        </p:spPr>
      </p:pic>
      <p:pic>
        <p:nvPicPr>
          <p:cNvPr id="193" name="Image 4" descr="https://kimi-img.moonshot.cn/pub/slides/slides_tmpl/image/25-10-09-18:34:50-d3jovigs8jdo4os5ds50.png"/>
          <p:cNvPicPr/>
          <p:nvPr/>
        </p:nvPicPr>
        <p:blipFill>
          <a:blip r:embed="rId5"/>
          <a:stretch/>
        </p:blipFill>
        <p:spPr>
          <a:xfrm>
            <a:off x="9785880" y="591840"/>
            <a:ext cx="1874160" cy="1594800"/>
          </a:xfrm>
          <a:prstGeom prst="rect">
            <a:avLst/>
          </a:prstGeom>
          <a:ln>
            <a:noFill/>
          </a:ln>
        </p:spPr>
      </p:pic>
      <p:pic>
        <p:nvPicPr>
          <p:cNvPr id="194" name="Image 5" descr="https://kimi-img.moonshot.cn/pub/slides/slides_tmpl/image/25-10-09-18:34:33-d3jove8s8jdo4os5drrg.png"/>
          <p:cNvPicPr/>
          <p:nvPr/>
        </p:nvPicPr>
        <p:blipFill>
          <a:blip r:embed="rId6"/>
          <a:stretch/>
        </p:blipFill>
        <p:spPr>
          <a:xfrm>
            <a:off x="428040" y="3368520"/>
            <a:ext cx="1656360" cy="1656360"/>
          </a:xfrm>
          <a:prstGeom prst="rect">
            <a:avLst/>
          </a:prstGeom>
          <a:ln>
            <a:noFill/>
          </a:ln>
        </p:spPr>
      </p:pic>
    </p:spTree>
  </p:cSld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LibreOffice/6.4.7.2$Linux_X86_64 LibreOffice_project/40$Build-2</Application>
  <Words>0</Words>
  <Paragraphs>0</Paragraphs>
  <Company>Moonshot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2025-11-20T21:55:28Z</dcterms:created>
  <dc:creator>Kimi</dc:creator>
  <dc:description/>
  <dc:language>en-US</dc:language>
  <cp:lastModifiedBy/>
  <dcterms:modified xsi:type="dcterms:W3CDTF">2025-11-20T21:05:08Z</dcterms:modified>
  <cp:revision>2</cp:revision>
  <dc:subject>Vertice360: Ventas en pozo sin fricción</dc:subject>
  <dc:title>Vertice360: Ventas en pozo sin fricción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{"Label":"Vertice360: Ventas en pozo sin fricción","ContentProducer":"001191110108MACG2KBH8F10000","ProduceID":"","ReservedCode1":"","ContentPropagator":"001191110108MACG2KBH8F20000","PropagateID":"","ReservedCode2":""}</vt:lpwstr>
  </property>
  <property fmtid="{D5CDD505-2E9C-101B-9397-08002B2CF9AE}" pid="3" name="AppVersion">
    <vt:lpwstr>16.0000</vt:lpwstr>
  </property>
  <property fmtid="{D5CDD505-2E9C-101B-9397-08002B2CF9AE}" pid="4" name="Company">
    <vt:lpwstr>Moonshot</vt:lpwstr>
  </property>
  <property fmtid="{D5CDD505-2E9C-101B-9397-08002B2CF9AE}" pid="5" name="HiddenSlides">
    <vt:i4>0</vt:i4>
  </property>
  <property fmtid="{D5CDD505-2E9C-101B-9397-08002B2CF9AE}" pid="6" name="HyperlinksChanged">
    <vt:bool>0</vt:bool>
  </property>
  <property fmtid="{D5CDD505-2E9C-101B-9397-08002B2CF9AE}" pid="7" name="LinksUpToDate">
    <vt:bool>0</vt:bool>
  </property>
  <property fmtid="{D5CDD505-2E9C-101B-9397-08002B2CF9AE}" pid="8" name="MMClips">
    <vt:i4>0</vt:i4>
  </property>
  <property fmtid="{D5CDD505-2E9C-101B-9397-08002B2CF9AE}" pid="9" name="Notes">
    <vt:i4>18</vt:i4>
  </property>
  <property fmtid="{D5CDD505-2E9C-101B-9397-08002B2CF9AE}" pid="10" name="PresentationFormat">
    <vt:lpwstr>On-screen Show (16:9)</vt:lpwstr>
  </property>
  <property fmtid="{D5CDD505-2E9C-101B-9397-08002B2CF9AE}" pid="11" name="ScaleCrop">
    <vt:bool>0</vt:bool>
  </property>
  <property fmtid="{D5CDD505-2E9C-101B-9397-08002B2CF9AE}" pid="12" name="ShareDoc">
    <vt:bool>0</vt:bool>
  </property>
  <property fmtid="{D5CDD505-2E9C-101B-9397-08002B2CF9AE}" pid="13" name="Slides">
    <vt:i4>18</vt:i4>
  </property>
</Properties>
</file>